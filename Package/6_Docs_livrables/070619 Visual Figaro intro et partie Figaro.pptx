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45" r:id="rId2"/>
    <p:sldId id="596" r:id="rId3"/>
    <p:sldId id="625" r:id="rId4"/>
    <p:sldId id="584" r:id="rId5"/>
    <p:sldId id="628" r:id="rId6"/>
    <p:sldId id="629" r:id="rId7"/>
    <p:sldId id="630" r:id="rId8"/>
    <p:sldId id="631" r:id="rId9"/>
    <p:sldId id="632" r:id="rId10"/>
    <p:sldId id="633" r:id="rId11"/>
    <p:sldId id="634" r:id="rId12"/>
    <p:sldId id="635" r:id="rId13"/>
    <p:sldId id="636" r:id="rId14"/>
    <p:sldId id="637" r:id="rId15"/>
    <p:sldId id="627" r:id="rId16"/>
    <p:sldId id="595" r:id="rId17"/>
    <p:sldId id="624" r:id="rId18"/>
  </p:sldIdLst>
  <p:sldSz cx="9906000" cy="6858000" type="A4"/>
  <p:notesSz cx="6669088" cy="9926638"/>
  <p:defaultTextStyle>
    <a:defPPr>
      <a:defRPr lang="en-GB"/>
    </a:defPPr>
    <a:lvl1pPr algn="l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9">
          <p15:clr>
            <a:srgbClr val="A4A3A4"/>
          </p15:clr>
        </p15:guide>
        <p15:guide id="2" pos="30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3BE7"/>
    <a:srgbClr val="3967FB"/>
    <a:srgbClr val="9FB5FD"/>
    <a:srgbClr val="7796FB"/>
    <a:srgbClr val="0317D3"/>
    <a:srgbClr val="FF99FF"/>
    <a:srgbClr val="0000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0929"/>
  </p:normalViewPr>
  <p:slideViewPr>
    <p:cSldViewPr>
      <p:cViewPr varScale="1">
        <p:scale>
          <a:sx n="138" d="100"/>
          <a:sy n="138" d="100"/>
        </p:scale>
        <p:origin x="432" y="10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312"/>
    </p:cViewPr>
  </p:sorterViewPr>
  <p:notesViewPr>
    <p:cSldViewPr>
      <p:cViewPr>
        <p:scale>
          <a:sx n="100" d="100"/>
          <a:sy n="100" d="100"/>
        </p:scale>
        <p:origin x="-888" y="660"/>
      </p:cViewPr>
      <p:guideLst>
        <p:guide orient="horz" pos="2159"/>
        <p:guide pos="30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7463"/>
            <a:ext cx="28892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84" tIns="0" rIns="19284" bIns="0" numCol="1" anchor="t" anchorCtr="0" compatLnSpc="1">
            <a:prstTxWarp prst="textNoShape">
              <a:avLst/>
            </a:prstTxWarp>
          </a:bodyPr>
          <a:lstStyle>
            <a:lvl1pPr defTabSz="957263" eaLnBrk="0" hangingPunct="0">
              <a:spcBef>
                <a:spcPct val="0"/>
              </a:spcBef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17463"/>
            <a:ext cx="28908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84" tIns="0" rIns="19284" bIns="0" numCol="1" anchor="t" anchorCtr="0" compatLnSpc="1">
            <a:prstTxWarp prst="textNoShape">
              <a:avLst/>
            </a:prstTxWarp>
          </a:bodyPr>
          <a:lstStyle>
            <a:lvl1pPr algn="r" defTabSz="957263" eaLnBrk="0" hangingPunct="0">
              <a:spcBef>
                <a:spcPct val="0"/>
              </a:spcBef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800"/>
            <a:ext cx="28892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84" tIns="0" rIns="19284" bIns="0" numCol="1" anchor="b" anchorCtr="0" compatLnSpc="1">
            <a:prstTxWarp prst="textNoShape">
              <a:avLst/>
            </a:prstTxWarp>
          </a:bodyPr>
          <a:lstStyle>
            <a:lvl1pPr defTabSz="957263" eaLnBrk="0" hangingPunct="0">
              <a:spcBef>
                <a:spcPct val="0"/>
              </a:spcBef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48800"/>
            <a:ext cx="28908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84" tIns="0" rIns="19284" bIns="0" numCol="1" anchor="b" anchorCtr="0" compatLnSpc="1">
            <a:prstTxWarp prst="textNoShape">
              <a:avLst/>
            </a:prstTxWarp>
          </a:bodyPr>
          <a:lstStyle>
            <a:lvl1pPr algn="r" defTabSz="957263" eaLnBrk="0" hangingPunct="0">
              <a:spcBef>
                <a:spcPct val="0"/>
              </a:spcBef>
              <a:defRPr sz="1000" b="0" i="1">
                <a:latin typeface="Times New Roman" panose="02020603050405020304" pitchFamily="18" charset="0"/>
              </a:defRPr>
            </a:lvl1pPr>
          </a:lstStyle>
          <a:p>
            <a:fld id="{DE64C8CB-AB71-4C31-907C-2786D4B67FA1}" type="slidenum">
              <a:rPr lang="en-ZA" altLang="fr-FR"/>
              <a:pPr/>
              <a:t>‹N°›</a:t>
            </a:fld>
            <a:endParaRPr lang="en-ZA" altLang="fr-FR"/>
          </a:p>
        </p:txBody>
      </p:sp>
    </p:spTree>
    <p:extLst>
      <p:ext uri="{BB962C8B-B14F-4D97-AF65-F5344CB8AC3E}">
        <p14:creationId xmlns:p14="http://schemas.microsoft.com/office/powerpoint/2010/main" val="2557278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7463"/>
            <a:ext cx="28892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84" tIns="0" rIns="19284" bIns="0" numCol="1" anchor="t" anchorCtr="0" compatLnSpc="1">
            <a:prstTxWarp prst="textNoShape">
              <a:avLst/>
            </a:prstTxWarp>
          </a:bodyPr>
          <a:lstStyle>
            <a:lvl1pPr defTabSz="809625" eaLnBrk="0" hangingPunct="0">
              <a:spcBef>
                <a:spcPct val="0"/>
              </a:spcBef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17463"/>
            <a:ext cx="28908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84" tIns="0" rIns="19284" bIns="0" numCol="1" anchor="t" anchorCtr="0" compatLnSpc="1">
            <a:prstTxWarp prst="textNoShape">
              <a:avLst/>
            </a:prstTxWarp>
          </a:bodyPr>
          <a:lstStyle>
            <a:lvl1pPr algn="r" defTabSz="809625" eaLnBrk="0" hangingPunct="0">
              <a:spcBef>
                <a:spcPct val="0"/>
              </a:spcBef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8892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84" tIns="0" rIns="19284" bIns="0" numCol="1" anchor="b" anchorCtr="0" compatLnSpc="1">
            <a:prstTxWarp prst="textNoShape">
              <a:avLst/>
            </a:prstTxWarp>
          </a:bodyPr>
          <a:lstStyle>
            <a:lvl1pPr defTabSz="809625" eaLnBrk="0" hangingPunct="0">
              <a:spcBef>
                <a:spcPct val="0"/>
              </a:spcBef>
              <a:defRPr sz="10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48800"/>
            <a:ext cx="28908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284" tIns="0" rIns="19284" bIns="0" numCol="1" anchor="b" anchorCtr="0" compatLnSpc="1">
            <a:prstTxWarp prst="textNoShape">
              <a:avLst/>
            </a:prstTxWarp>
          </a:bodyPr>
          <a:lstStyle>
            <a:lvl1pPr algn="r" defTabSz="809625" eaLnBrk="0" hangingPunct="0">
              <a:spcBef>
                <a:spcPct val="0"/>
              </a:spcBef>
              <a:defRPr sz="1000" b="0" i="1">
                <a:latin typeface="Times New Roman" panose="02020603050405020304" pitchFamily="18" charset="0"/>
              </a:defRPr>
            </a:lvl1pPr>
          </a:lstStyle>
          <a:p>
            <a:fld id="{21EA0544-0304-4753-851C-FF84CF3EF043}" type="slidenum">
              <a:rPr lang="en-ZA" altLang="fr-FR"/>
              <a:pPr/>
              <a:t>‹N°›</a:t>
            </a:fld>
            <a:endParaRPr lang="en-ZA" altLang="fr-FR"/>
          </a:p>
        </p:txBody>
      </p:sp>
      <p:sp>
        <p:nvSpPr>
          <p:cNvPr id="17414" name="Rectangle 6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33438" y="874713"/>
            <a:ext cx="5003800" cy="3463925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4094163" y="552450"/>
            <a:ext cx="1746250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0882" tIns="56245" rIns="110882" bIns="56245">
            <a:spAutoFit/>
          </a:bodyPr>
          <a:lstStyle>
            <a:lvl1pPr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271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271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271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271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ZA" altLang="fr-FR" sz="1600" i="1">
                <a:solidFill>
                  <a:schemeClr val="bg2"/>
                </a:solidFill>
              </a:rPr>
              <a:t>La Division R&amp;D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6338888" y="9632950"/>
            <a:ext cx="387350" cy="29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0882" tIns="56245" rIns="110882" bIns="56245">
            <a:spAutoFit/>
          </a:bodyPr>
          <a:lstStyle>
            <a:lvl1pPr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271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271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271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271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271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96FEEB-59F1-4FDD-A20B-6C8E2613E0FD}" type="slidenum">
              <a:rPr lang="en-ZA" altLang="fr-FR" sz="1200">
                <a:solidFill>
                  <a:schemeClr val="accent2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‹N°›</a:t>
            </a:fld>
            <a:endParaRPr lang="en-ZA" altLang="fr-FR" sz="12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>
            <a:off x="525463" y="4522788"/>
            <a:ext cx="0" cy="285750"/>
          </a:xfrm>
          <a:prstGeom prst="line">
            <a:avLst/>
          </a:prstGeom>
          <a:noFill/>
          <a:ln w="25400">
            <a:solidFill>
              <a:srgbClr val="0033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512763" y="4535488"/>
            <a:ext cx="6810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204" tIns="46603" rIns="93204" bIns="46603">
            <a:spAutoFit/>
          </a:bodyPr>
          <a:lstStyle>
            <a:lvl1pPr defTabSz="925513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ZA" altLang="fr-FR" sz="1200" i="1">
                <a:solidFill>
                  <a:schemeClr val="bg2"/>
                </a:solidFill>
              </a:rPr>
              <a:t>Notes :</a:t>
            </a:r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>
            <a:off x="541338" y="4503738"/>
            <a:ext cx="5302250" cy="0"/>
          </a:xfrm>
          <a:prstGeom prst="line">
            <a:avLst/>
          </a:prstGeom>
          <a:noFill/>
          <a:ln w="25400">
            <a:solidFill>
              <a:srgbClr val="0033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18124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E51BBD-0E6A-44FA-9266-423264F6CF11}" type="slidenum">
              <a:rPr lang="en-ZA" altLang="fr-FR" sz="1000" b="0">
                <a:latin typeface="Times New Roman" panose="02020603050405020304" pitchFamily="18" charset="0"/>
              </a:rPr>
              <a:pPr/>
              <a:t>1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5463" y="4884738"/>
            <a:ext cx="5318125" cy="44323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204" tIns="46603" rIns="93204" bIns="46603"/>
          <a:lstStyle/>
          <a:p>
            <a:pPr eaLnBrk="1" hangingPunct="1"/>
            <a:endParaRPr lang="en-ZA" altLang="fr-FR" smtClean="0"/>
          </a:p>
        </p:txBody>
      </p:sp>
    </p:spTree>
    <p:extLst>
      <p:ext uri="{BB962C8B-B14F-4D97-AF65-F5344CB8AC3E}">
        <p14:creationId xmlns:p14="http://schemas.microsoft.com/office/powerpoint/2010/main" val="3842262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0CE3D2-D73D-4A0D-B0D0-CEB29395F9E0}" type="slidenum">
              <a:rPr lang="en-ZA" altLang="fr-FR" sz="1000" b="0">
                <a:latin typeface="Times New Roman" panose="02020603050405020304" pitchFamily="18" charset="0"/>
              </a:rPr>
              <a:pPr/>
              <a:t>2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19459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88" y="4691063"/>
            <a:ext cx="4881562" cy="4464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131" tIns="46565" rIns="93131" bIns="46565"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141797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F6A983-5594-4F18-B225-E9907CFBE266}" type="slidenum">
              <a:rPr lang="en-ZA" altLang="fr-FR" sz="1000" b="0">
                <a:latin typeface="Times New Roman" panose="02020603050405020304" pitchFamily="18" charset="0"/>
              </a:rPr>
              <a:pPr/>
              <a:t>3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692650"/>
            <a:ext cx="4883150" cy="4460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647" tIns="46823" rIns="93647" bIns="46823"/>
          <a:lstStyle/>
          <a:p>
            <a:pPr eaLnBrk="1" hangingPunct="1"/>
            <a:r>
              <a:rPr lang="fr-FR" altLang="fr-FR" b="0" smtClean="0"/>
              <a:t>Dans YAMS : exemple de valeurs moyennes de variables numériques =  un coût d’exploitation.</a:t>
            </a:r>
          </a:p>
        </p:txBody>
      </p:sp>
    </p:spTree>
    <p:extLst>
      <p:ext uri="{BB962C8B-B14F-4D97-AF65-F5344CB8AC3E}">
        <p14:creationId xmlns:p14="http://schemas.microsoft.com/office/powerpoint/2010/main" val="1730388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68C347-D36E-4674-B929-89BCD58158CD}" type="slidenum">
              <a:rPr lang="en-ZA" altLang="fr-FR" sz="1000" b="0">
                <a:latin typeface="Times New Roman" panose="02020603050405020304" pitchFamily="18" charset="0"/>
              </a:rPr>
              <a:pPr/>
              <a:t>4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15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88" y="4691063"/>
            <a:ext cx="4881562" cy="4464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131" tIns="46565" rIns="93131" bIns="46565"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77332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FD1BB5-D29B-4554-9BC9-6429CBF67F76}" type="slidenum">
              <a:rPr lang="en-ZA" altLang="fr-FR" sz="1000" b="0">
                <a:latin typeface="Times New Roman" panose="02020603050405020304" pitchFamily="18" charset="0"/>
              </a:rPr>
              <a:pPr/>
              <a:t>5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724400"/>
            <a:ext cx="4876800" cy="449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209802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2F271D-26C8-4664-9064-1D65B7A2EA1C}" type="slidenum">
              <a:rPr lang="en-ZA" altLang="fr-FR" sz="1000" b="0">
                <a:latin typeface="Times New Roman" panose="02020603050405020304" pitchFamily="18" charset="0"/>
              </a:rPr>
              <a:pPr/>
              <a:t>6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724400"/>
            <a:ext cx="4876800" cy="449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4073724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623C6E-F7FF-4585-A712-059077757529}" type="slidenum">
              <a:rPr lang="en-ZA" altLang="fr-FR" sz="1000" b="0">
                <a:latin typeface="Times New Roman" panose="02020603050405020304" pitchFamily="18" charset="0"/>
              </a:rPr>
              <a:pPr/>
              <a:t>7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724400"/>
            <a:ext cx="4876800" cy="449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784924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143FC0-4E56-4A02-8F77-AC569D74AB44}" type="slidenum">
              <a:rPr lang="en-ZA" altLang="fr-FR" sz="1000" b="0">
                <a:latin typeface="Times New Roman" panose="02020603050405020304" pitchFamily="18" charset="0"/>
              </a:rPr>
              <a:pPr/>
              <a:t>8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560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724400"/>
            <a:ext cx="4876800" cy="449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843522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022E6B-7986-4653-92E2-DB79D0E0AD49}" type="slidenum">
              <a:rPr lang="en-ZA" altLang="fr-FR" sz="1000" b="0">
                <a:latin typeface="Times New Roman" panose="02020603050405020304" pitchFamily="18" charset="0"/>
              </a:rPr>
              <a:pPr/>
              <a:t>9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ln/>
        </p:spPr>
      </p:sp>
      <p:sp>
        <p:nvSpPr>
          <p:cNvPr id="26628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081852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CD0B37-3A15-4F95-A7AC-AA60D944D7E2}" type="slidenum">
              <a:rPr lang="en-ZA" altLang="fr-FR" sz="1000" b="0">
                <a:latin typeface="Times New Roman" panose="02020603050405020304" pitchFamily="18" charset="0"/>
              </a:rPr>
              <a:pPr/>
              <a:t>10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ln/>
        </p:spPr>
      </p:sp>
      <p:sp>
        <p:nvSpPr>
          <p:cNvPr id="27652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825636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9FBD67-9F40-423D-8E59-46B0B8126884}" type="slidenum">
              <a:rPr lang="en-ZA" altLang="fr-FR" sz="1000" b="0">
                <a:latin typeface="Times New Roman" panose="02020603050405020304" pitchFamily="18" charset="0"/>
              </a:rPr>
              <a:pPr/>
              <a:t>11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ln/>
        </p:spPr>
      </p:sp>
      <p:sp>
        <p:nvSpPr>
          <p:cNvPr id="28676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581194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99B11D-C7A0-481D-9601-F729316830C1}" type="slidenum">
              <a:rPr lang="en-ZA" altLang="fr-FR" sz="1000" b="0">
                <a:latin typeface="Times New Roman" panose="02020603050405020304" pitchFamily="18" charset="0"/>
              </a:rPr>
              <a:pPr/>
              <a:t>12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ln/>
        </p:spPr>
      </p:sp>
      <p:sp>
        <p:nvSpPr>
          <p:cNvPr id="29700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485622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83B94D-D5B3-4685-9450-EBCA61D1A1BB}" type="slidenum">
              <a:rPr lang="en-ZA" altLang="fr-FR" sz="1000" b="0">
                <a:latin typeface="Times New Roman" panose="02020603050405020304" pitchFamily="18" charset="0"/>
              </a:rPr>
              <a:pPr/>
              <a:t>13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ln/>
        </p:spPr>
      </p:sp>
      <p:sp>
        <p:nvSpPr>
          <p:cNvPr id="30724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378848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EE6AC9-49F5-44B5-9EA7-B2077B831D53}" type="slidenum">
              <a:rPr lang="en-ZA" altLang="fr-FR" sz="1000" b="0">
                <a:latin typeface="Times New Roman" panose="02020603050405020304" pitchFamily="18" charset="0"/>
              </a:rPr>
              <a:pPr/>
              <a:t>14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724400"/>
            <a:ext cx="4876800" cy="449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394626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BA174D-DB1B-435C-8AF8-CCDD2BC8C86F}" type="slidenum">
              <a:rPr lang="en-ZA" altLang="fr-FR" sz="1000" b="0">
                <a:latin typeface="Times New Roman" panose="02020603050405020304" pitchFamily="18" charset="0"/>
              </a:rPr>
              <a:pPr/>
              <a:t>15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724400"/>
            <a:ext cx="4876800" cy="449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71054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71717F-DBC0-4BCA-BAE2-0D143D43264C}" type="slidenum">
              <a:rPr lang="en-ZA" altLang="fr-FR" sz="1000" b="0">
                <a:latin typeface="Times New Roman" panose="02020603050405020304" pitchFamily="18" charset="0"/>
              </a:rPr>
              <a:pPr/>
              <a:t>16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8875" y="227013"/>
            <a:ext cx="4551363" cy="3151187"/>
          </a:xfrm>
          <a:noFill/>
          <a:ln cap="flat"/>
        </p:spPr>
      </p:sp>
      <p:sp>
        <p:nvSpPr>
          <p:cNvPr id="33796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293688" y="3433763"/>
            <a:ext cx="6130925" cy="5730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9717" tIns="44860" rIns="89717" bIns="44860"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514771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96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96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C29565-32DF-4BAC-8694-D84781EFC8FE}" type="slidenum">
              <a:rPr lang="en-ZA" altLang="fr-FR" sz="1000" b="0">
                <a:latin typeface="Times New Roman" panose="02020603050405020304" pitchFamily="18" charset="0"/>
              </a:rPr>
              <a:pPr/>
              <a:t>17</a:t>
            </a:fld>
            <a:endParaRPr lang="en-ZA" altLang="fr-FR" sz="1000" b="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88" y="4691063"/>
            <a:ext cx="4881562" cy="4464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3131" tIns="46565" rIns="93131" bIns="46565"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414969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5594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41988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56670845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15608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71594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43250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748460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11084799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06390862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95773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63834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txStyles>
    <p:titleStyle>
      <a:lvl1pPr algn="l" defTabSz="762000" rtl="0" eaLnBrk="0" fontAlgn="base" hangingPunct="0">
        <a:spcBef>
          <a:spcPct val="0"/>
        </a:spcBef>
        <a:spcAft>
          <a:spcPct val="0"/>
        </a:spcAft>
        <a:defRPr sz="3500" b="1">
          <a:solidFill>
            <a:srgbClr val="FF9933"/>
          </a:solidFill>
          <a:latin typeface="+mj-lt"/>
          <a:ea typeface="+mj-ea"/>
          <a:cs typeface="+mj-cs"/>
        </a:defRPr>
      </a:lvl1pPr>
      <a:lvl2pPr algn="l" defTabSz="762000" rtl="0" eaLnBrk="0" fontAlgn="base" hangingPunct="0">
        <a:spcBef>
          <a:spcPct val="0"/>
        </a:spcBef>
        <a:spcAft>
          <a:spcPct val="0"/>
        </a:spcAft>
        <a:defRPr sz="3500" b="1">
          <a:solidFill>
            <a:srgbClr val="FF9933"/>
          </a:solidFill>
          <a:latin typeface="Arial" pitchFamily="34" charset="0"/>
        </a:defRPr>
      </a:lvl2pPr>
      <a:lvl3pPr algn="l" defTabSz="762000" rtl="0" eaLnBrk="0" fontAlgn="base" hangingPunct="0">
        <a:spcBef>
          <a:spcPct val="0"/>
        </a:spcBef>
        <a:spcAft>
          <a:spcPct val="0"/>
        </a:spcAft>
        <a:defRPr sz="3500" b="1">
          <a:solidFill>
            <a:srgbClr val="FF9933"/>
          </a:solidFill>
          <a:latin typeface="Arial" pitchFamily="34" charset="0"/>
        </a:defRPr>
      </a:lvl3pPr>
      <a:lvl4pPr algn="l" defTabSz="762000" rtl="0" eaLnBrk="0" fontAlgn="base" hangingPunct="0">
        <a:spcBef>
          <a:spcPct val="0"/>
        </a:spcBef>
        <a:spcAft>
          <a:spcPct val="0"/>
        </a:spcAft>
        <a:defRPr sz="3500" b="1">
          <a:solidFill>
            <a:srgbClr val="FF9933"/>
          </a:solidFill>
          <a:latin typeface="Arial" pitchFamily="34" charset="0"/>
        </a:defRPr>
      </a:lvl4pPr>
      <a:lvl5pPr algn="l" defTabSz="762000" rtl="0" eaLnBrk="0" fontAlgn="base" hangingPunct="0">
        <a:spcBef>
          <a:spcPct val="0"/>
        </a:spcBef>
        <a:spcAft>
          <a:spcPct val="0"/>
        </a:spcAft>
        <a:defRPr sz="3500" b="1">
          <a:solidFill>
            <a:srgbClr val="FF9933"/>
          </a:solidFill>
          <a:latin typeface="Arial" pitchFamily="34" charset="0"/>
        </a:defRPr>
      </a:lvl5pPr>
      <a:lvl6pPr marL="457200" algn="l" defTabSz="762000" rtl="0" fontAlgn="base">
        <a:spcBef>
          <a:spcPct val="0"/>
        </a:spcBef>
        <a:spcAft>
          <a:spcPct val="0"/>
        </a:spcAft>
        <a:defRPr sz="3500" b="1">
          <a:solidFill>
            <a:srgbClr val="FF9933"/>
          </a:solidFill>
          <a:latin typeface="Arial" pitchFamily="34" charset="0"/>
        </a:defRPr>
      </a:lvl6pPr>
      <a:lvl7pPr marL="914400" algn="l" defTabSz="762000" rtl="0" fontAlgn="base">
        <a:spcBef>
          <a:spcPct val="0"/>
        </a:spcBef>
        <a:spcAft>
          <a:spcPct val="0"/>
        </a:spcAft>
        <a:defRPr sz="3500" b="1">
          <a:solidFill>
            <a:srgbClr val="FF9933"/>
          </a:solidFill>
          <a:latin typeface="Arial" pitchFamily="34" charset="0"/>
        </a:defRPr>
      </a:lvl7pPr>
      <a:lvl8pPr marL="1371600" algn="l" defTabSz="762000" rtl="0" fontAlgn="base">
        <a:spcBef>
          <a:spcPct val="0"/>
        </a:spcBef>
        <a:spcAft>
          <a:spcPct val="0"/>
        </a:spcAft>
        <a:defRPr sz="3500" b="1">
          <a:solidFill>
            <a:srgbClr val="FF9933"/>
          </a:solidFill>
          <a:latin typeface="Arial" pitchFamily="34" charset="0"/>
        </a:defRPr>
      </a:lvl8pPr>
      <a:lvl9pPr marL="1828800" algn="l" defTabSz="762000" rtl="0" fontAlgn="base">
        <a:spcBef>
          <a:spcPct val="0"/>
        </a:spcBef>
        <a:spcAft>
          <a:spcPct val="0"/>
        </a:spcAft>
        <a:defRPr sz="3500" b="1">
          <a:solidFill>
            <a:srgbClr val="FF9933"/>
          </a:solidFill>
          <a:latin typeface="Arial" pitchFamily="34" charset="0"/>
        </a:defRPr>
      </a:lvl9pPr>
    </p:titleStyle>
    <p:bodyStyle>
      <a:lvl1pPr marL="342900" indent="-342900" algn="l" defTabSz="762000" rtl="0" eaLnBrk="0" fontAlgn="base" hangingPunct="0">
        <a:spcBef>
          <a:spcPct val="20000"/>
        </a:spcBef>
        <a:spcAft>
          <a:spcPct val="0"/>
        </a:spcAft>
        <a:buClr>
          <a:srgbClr val="FF9933"/>
        </a:buClr>
        <a:buFont typeface="Wingdings" panose="05000000000000000000" pitchFamily="2" charset="2"/>
        <a:buChar char="§"/>
        <a:tabLst>
          <a:tab pos="571500" algn="l"/>
          <a:tab pos="952500" algn="l"/>
          <a:tab pos="1333500" algn="l"/>
        </a:tabLst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71500" indent="-114300" algn="l" defTabSz="76200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87000"/>
        <a:buFont typeface="Wingdings" panose="05000000000000000000" pitchFamily="2" charset="2"/>
        <a:buChar char="§"/>
        <a:tabLst>
          <a:tab pos="571500" algn="l"/>
          <a:tab pos="952500" algn="l"/>
          <a:tab pos="1333500" algn="l"/>
        </a:tabLst>
        <a:defRPr sz="2400">
          <a:solidFill>
            <a:schemeClr val="tx1"/>
          </a:solidFill>
          <a:latin typeface="+mn-lt"/>
        </a:defRPr>
      </a:lvl2pPr>
      <a:lvl3pPr marL="952500" indent="-190500" algn="l" defTabSz="762000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§"/>
        <a:tabLst>
          <a:tab pos="571500" algn="l"/>
          <a:tab pos="952500" algn="l"/>
          <a:tab pos="1333500" algn="l"/>
        </a:tabLst>
        <a:defRPr sz="2000">
          <a:solidFill>
            <a:schemeClr val="tx1"/>
          </a:solidFill>
          <a:latin typeface="+mn-lt"/>
        </a:defRPr>
      </a:lvl3pPr>
      <a:lvl4pPr marL="1333500" indent="-190500" algn="l" defTabSz="762000" rtl="0" eaLnBrk="0" fontAlgn="base" hangingPunct="0">
        <a:spcBef>
          <a:spcPct val="5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§"/>
        <a:tabLst>
          <a:tab pos="571500" algn="l"/>
          <a:tab pos="952500" algn="l"/>
          <a:tab pos="1333500" algn="l"/>
        </a:tabLst>
        <a:defRPr>
          <a:solidFill>
            <a:schemeClr val="tx1"/>
          </a:solidFill>
          <a:latin typeface="+mn-lt"/>
        </a:defRPr>
      </a:lvl4pPr>
      <a:lvl5pPr marL="2057400" indent="-228600" algn="l" defTabSz="762000" rtl="0" eaLnBrk="0" fontAlgn="base" hangingPunct="0">
        <a:spcBef>
          <a:spcPct val="20000"/>
        </a:spcBef>
        <a:spcAft>
          <a:spcPct val="0"/>
        </a:spcAft>
        <a:buChar char="•"/>
        <a:tabLst>
          <a:tab pos="571500" algn="l"/>
          <a:tab pos="952500" algn="l"/>
          <a:tab pos="1333500" algn="l"/>
        </a:tabLst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defTabSz="762000" rtl="0" fontAlgn="base">
        <a:spcBef>
          <a:spcPct val="20000"/>
        </a:spcBef>
        <a:spcAft>
          <a:spcPct val="0"/>
        </a:spcAft>
        <a:buChar char="•"/>
        <a:tabLst>
          <a:tab pos="571500" algn="l"/>
          <a:tab pos="952500" algn="l"/>
          <a:tab pos="1333500" algn="l"/>
        </a:tabLst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defTabSz="762000" rtl="0" fontAlgn="base">
        <a:spcBef>
          <a:spcPct val="20000"/>
        </a:spcBef>
        <a:spcAft>
          <a:spcPct val="0"/>
        </a:spcAft>
        <a:buChar char="•"/>
        <a:tabLst>
          <a:tab pos="571500" algn="l"/>
          <a:tab pos="952500" algn="l"/>
          <a:tab pos="1333500" algn="l"/>
        </a:tabLst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defTabSz="762000" rtl="0" fontAlgn="base">
        <a:spcBef>
          <a:spcPct val="20000"/>
        </a:spcBef>
        <a:spcAft>
          <a:spcPct val="0"/>
        </a:spcAft>
        <a:buChar char="•"/>
        <a:tabLst>
          <a:tab pos="571500" algn="l"/>
          <a:tab pos="952500" algn="l"/>
          <a:tab pos="1333500" algn="l"/>
        </a:tabLst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defTabSz="762000" rtl="0" fontAlgn="base">
        <a:spcBef>
          <a:spcPct val="20000"/>
        </a:spcBef>
        <a:spcAft>
          <a:spcPct val="0"/>
        </a:spcAft>
        <a:buChar char="•"/>
        <a:tabLst>
          <a:tab pos="571500" algn="l"/>
          <a:tab pos="952500" algn="l"/>
          <a:tab pos="1333500" algn="l"/>
        </a:tabLst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32"/>
          <p:cNvSpPr>
            <a:spLocks noChangeShapeType="1"/>
          </p:cNvSpPr>
          <p:nvPr/>
        </p:nvSpPr>
        <p:spPr bwMode="auto">
          <a:xfrm>
            <a:off x="1600200" y="4419600"/>
            <a:ext cx="32766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27" name="Line 33"/>
          <p:cNvSpPr>
            <a:spLocks noChangeShapeType="1"/>
          </p:cNvSpPr>
          <p:nvPr/>
        </p:nvSpPr>
        <p:spPr bwMode="auto">
          <a:xfrm>
            <a:off x="2057400" y="5562600"/>
            <a:ext cx="41910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1028" name="Picture 49" descr="C:\WINNT\Profiles\user\Bureau\Porte-documents\photo\nucleaire.jpg"/>
          <p:cNvPicPr>
            <a:picLocks noChangeAspect="1" noChangeArrowheads="1"/>
          </p:cNvPicPr>
          <p:nvPr/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759200"/>
            <a:ext cx="931863" cy="1422400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2" descr="C:\WINNT\Profiles\user\Bureau\Porte-documents\photo\j1_5yucd.jpg"/>
          <p:cNvPicPr>
            <a:picLocks noChangeAspect="1" noChangeArrowheads="1"/>
          </p:cNvPicPr>
          <p:nvPr/>
        </p:nvPicPr>
        <p:blipFill>
          <a:blip r:embed="rId4" cstate="print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4983163"/>
            <a:ext cx="1790700" cy="1189037"/>
          </a:xfrm>
          <a:prstGeom prst="rect">
            <a:avLst/>
          </a:prstGeom>
          <a:noFill/>
          <a:ln w="9525">
            <a:solidFill>
              <a:srgbClr val="33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Line 30"/>
          <p:cNvSpPr>
            <a:spLocks noChangeShapeType="1"/>
          </p:cNvSpPr>
          <p:nvPr/>
        </p:nvSpPr>
        <p:spPr bwMode="auto">
          <a:xfrm>
            <a:off x="1295400" y="1447800"/>
            <a:ext cx="25908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31" name="Line 34"/>
          <p:cNvSpPr>
            <a:spLocks noChangeShapeType="1"/>
          </p:cNvSpPr>
          <p:nvPr/>
        </p:nvSpPr>
        <p:spPr bwMode="auto">
          <a:xfrm>
            <a:off x="914400" y="3429000"/>
            <a:ext cx="34290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32" name="Line 31"/>
          <p:cNvSpPr>
            <a:spLocks noChangeShapeType="1"/>
          </p:cNvSpPr>
          <p:nvPr/>
        </p:nvSpPr>
        <p:spPr bwMode="auto">
          <a:xfrm>
            <a:off x="990600" y="2362200"/>
            <a:ext cx="30480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33" name="Rectangle 2"/>
          <p:cNvSpPr>
            <a:spLocks noChangeArrowheads="1"/>
          </p:cNvSpPr>
          <p:nvPr/>
        </p:nvSpPr>
        <p:spPr bwMode="auto">
          <a:xfrm>
            <a:off x="0" y="6629400"/>
            <a:ext cx="3048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ZA" altLang="fr-FR" sz="2400" b="0"/>
          </a:p>
        </p:txBody>
      </p:sp>
      <p:sp>
        <p:nvSpPr>
          <p:cNvPr id="1034" name="Line 8"/>
          <p:cNvSpPr>
            <a:spLocks noChangeShapeType="1"/>
          </p:cNvSpPr>
          <p:nvPr/>
        </p:nvSpPr>
        <p:spPr bwMode="auto">
          <a:xfrm>
            <a:off x="762000" y="369888"/>
            <a:ext cx="0" cy="3706812"/>
          </a:xfrm>
          <a:prstGeom prst="line">
            <a:avLst/>
          </a:prstGeom>
          <a:noFill/>
          <a:ln w="12700">
            <a:solidFill>
              <a:srgbClr val="0437D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1035" name="Picture 51" descr="C:\WINNT\Profiles\user\Bureau\Porte-documents\photo\j1_5yppn.jpg"/>
          <p:cNvPicPr>
            <a:picLocks noChangeAspect="1" noChangeArrowheads="1"/>
          </p:cNvPicPr>
          <p:nvPr/>
        </p:nvPicPr>
        <p:blipFill>
          <a:blip r:embed="rId5" cstate="print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911225" cy="1371600"/>
          </a:xfrm>
          <a:prstGeom prst="rect">
            <a:avLst/>
          </a:prstGeom>
          <a:noFill/>
          <a:ln w="9525">
            <a:solidFill>
              <a:srgbClr val="33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48" descr="C:\WINNT\Profiles\user\Bureau\Porte-documents\photo\energy2.jpg"/>
          <p:cNvPicPr>
            <a:picLocks noChangeAspect="1" noChangeArrowheads="1"/>
          </p:cNvPicPr>
          <p:nvPr/>
        </p:nvPicPr>
        <p:blipFill>
          <a:blip r:embed="rId6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49313"/>
            <a:ext cx="1676400" cy="1131887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37" name="Picture 73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5" t="8902" r="14680" b="19284"/>
          <a:stretch>
            <a:fillRect/>
          </a:stretch>
        </p:blipFill>
        <p:spPr bwMode="auto">
          <a:xfrm>
            <a:off x="533400" y="2971800"/>
            <a:ext cx="1295400" cy="838200"/>
          </a:xfrm>
          <a:prstGeom prst="rect">
            <a:avLst/>
          </a:prstGeom>
          <a:noFill/>
          <a:ln w="9525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8" name="Text Box 89"/>
          <p:cNvSpPr txBox="1">
            <a:spLocks noChangeArrowheads="1"/>
          </p:cNvSpPr>
          <p:nvPr/>
        </p:nvSpPr>
        <p:spPr bwMode="auto">
          <a:xfrm>
            <a:off x="8229600" y="61722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ZA" altLang="fr-FR" sz="1200">
                <a:solidFill>
                  <a:srgbClr val="FF9900"/>
                </a:solidFill>
                <a:latin typeface="Bookman Old Style" panose="02050604050505020204" pitchFamily="18" charset="0"/>
              </a:rPr>
              <a:t>Recherche &amp; Développement</a:t>
            </a:r>
          </a:p>
        </p:txBody>
      </p:sp>
      <p:sp>
        <p:nvSpPr>
          <p:cNvPr id="1039" name="Arc 98"/>
          <p:cNvSpPr>
            <a:spLocks/>
          </p:cNvSpPr>
          <p:nvPr/>
        </p:nvSpPr>
        <p:spPr bwMode="auto">
          <a:xfrm flipH="1" flipV="1">
            <a:off x="3886200" y="1066800"/>
            <a:ext cx="3200400" cy="4648200"/>
          </a:xfrm>
          <a:custGeom>
            <a:avLst/>
            <a:gdLst>
              <a:gd name="T0" fmla="*/ 0 w 21600"/>
              <a:gd name="T1" fmla="*/ 0 h 21600"/>
              <a:gd name="T2" fmla="*/ 3200400 w 21600"/>
              <a:gd name="T3" fmla="*/ 4648200 h 21600"/>
              <a:gd name="T4" fmla="*/ 0 w 21600"/>
              <a:gd name="T5" fmla="*/ 46482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40" name="Text Box 103"/>
          <p:cNvSpPr txBox="1">
            <a:spLocks noChangeArrowheads="1"/>
          </p:cNvSpPr>
          <p:nvPr/>
        </p:nvSpPr>
        <p:spPr bwMode="auto">
          <a:xfrm>
            <a:off x="5791200" y="34290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endParaRPr lang="en-ZA" altLang="fr-FR" sz="2800" b="0">
              <a:latin typeface="Times New Roman" panose="02020603050405020304" pitchFamily="18" charset="0"/>
            </a:endParaRPr>
          </a:p>
        </p:txBody>
      </p:sp>
      <p:sp>
        <p:nvSpPr>
          <p:cNvPr id="1041" name="Text Box 104"/>
          <p:cNvSpPr txBox="1">
            <a:spLocks noChangeArrowheads="1"/>
          </p:cNvSpPr>
          <p:nvPr/>
        </p:nvSpPr>
        <p:spPr bwMode="auto">
          <a:xfrm>
            <a:off x="6629400" y="4419600"/>
            <a:ext cx="2590800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ZA" altLang="fr-FR" sz="1600" b="0">
                <a:latin typeface="Times New Roman" panose="02020603050405020304" pitchFamily="18" charset="0"/>
              </a:rPr>
              <a:t>Guillaume TORRENTE</a:t>
            </a:r>
          </a:p>
          <a:p>
            <a:pPr algn="r" eaLnBrk="1" hangingPunct="1"/>
            <a:r>
              <a:rPr lang="en-ZA" altLang="fr-FR" sz="1600" b="0">
                <a:latin typeface="Times New Roman" panose="02020603050405020304" pitchFamily="18" charset="0"/>
              </a:rPr>
              <a:t>Marc BOUISSOU</a:t>
            </a:r>
          </a:p>
        </p:txBody>
      </p:sp>
      <p:sp>
        <p:nvSpPr>
          <p:cNvPr id="1042" name="Text Box 105"/>
          <p:cNvSpPr txBox="1">
            <a:spLocks noChangeArrowheads="1"/>
          </p:cNvSpPr>
          <p:nvPr/>
        </p:nvSpPr>
        <p:spPr bwMode="auto">
          <a:xfrm>
            <a:off x="7086600" y="365760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ZA" altLang="fr-FR" sz="2800" b="0">
              <a:latin typeface="Times New Roman" panose="02020603050405020304" pitchFamily="18" charset="0"/>
            </a:endParaRPr>
          </a:p>
        </p:txBody>
      </p:sp>
      <p:sp>
        <p:nvSpPr>
          <p:cNvPr id="1043" name="Rectangle 108"/>
          <p:cNvSpPr>
            <a:spLocks noChangeArrowheads="1"/>
          </p:cNvSpPr>
          <p:nvPr/>
        </p:nvSpPr>
        <p:spPr bwMode="auto">
          <a:xfrm>
            <a:off x="4724400" y="838200"/>
            <a:ext cx="476885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fr-FR" sz="3600">
                <a:solidFill>
                  <a:srgbClr val="FF9933"/>
                </a:solidFill>
              </a:rPr>
              <a:t>Plate-forme Outils KB3 : développer des bases de connaissances avec Visual FIGARO</a:t>
            </a:r>
          </a:p>
          <a:p>
            <a:pPr eaLnBrk="1" hangingPunct="1">
              <a:spcBef>
                <a:spcPct val="0"/>
              </a:spcBef>
            </a:pPr>
            <a:endParaRPr lang="fr-FR" altLang="fr-FR" sz="2400"/>
          </a:p>
        </p:txBody>
      </p:sp>
      <p:sp>
        <p:nvSpPr>
          <p:cNvPr id="1044" name="Text Box 109"/>
          <p:cNvSpPr txBox="1">
            <a:spLocks noChangeArrowheads="1"/>
          </p:cNvSpPr>
          <p:nvPr/>
        </p:nvSpPr>
        <p:spPr bwMode="auto">
          <a:xfrm>
            <a:off x="2362200" y="6276975"/>
            <a:ext cx="4800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5683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5683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5683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5683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568325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5683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5683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5683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568325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1600">
                <a:solidFill>
                  <a:srgbClr val="FF9900"/>
                </a:solidFill>
              </a:rPr>
              <a:t>IMdR-SdF Groupe recherche méthodologique 19/06/2007 </a:t>
            </a:r>
            <a:endParaRPr lang="en-ZA" altLang="fr-FR" sz="2800" b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45" name="Picture 110" descr="C:\Documents and Settings\bouissou-mar\Mes documents\Mes images\rvbBur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715000"/>
            <a:ext cx="700088" cy="95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028" descr="C:\WINNT\Profiles\user\Bureau\Porte-documents\photo\nucleaire.jpg"/>
          <p:cNvPicPr>
            <a:picLocks noChangeAspect="1" noChangeArrowheads="1"/>
          </p:cNvPicPr>
          <p:nvPr/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759200"/>
            <a:ext cx="931863" cy="1422400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1029" descr="C:\WINNT\Profiles\user\Bureau\Porte-documents\photo\j1_5yucd.jpg"/>
          <p:cNvPicPr>
            <a:picLocks noChangeAspect="1" noChangeArrowheads="1"/>
          </p:cNvPicPr>
          <p:nvPr/>
        </p:nvPicPr>
        <p:blipFill>
          <a:blip r:embed="rId4" cstate="print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4983163"/>
            <a:ext cx="1790700" cy="1189037"/>
          </a:xfrm>
          <a:prstGeom prst="rect">
            <a:avLst/>
          </a:prstGeom>
          <a:noFill/>
          <a:ln w="9525">
            <a:solidFill>
              <a:srgbClr val="33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2" name="Line 1033"/>
          <p:cNvSpPr>
            <a:spLocks noChangeShapeType="1"/>
          </p:cNvSpPr>
          <p:nvPr/>
        </p:nvSpPr>
        <p:spPr bwMode="auto">
          <a:xfrm>
            <a:off x="762000" y="369888"/>
            <a:ext cx="0" cy="3706812"/>
          </a:xfrm>
          <a:prstGeom prst="line">
            <a:avLst/>
          </a:prstGeom>
          <a:noFill/>
          <a:ln w="12700">
            <a:solidFill>
              <a:srgbClr val="0437D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2053" name="Picture 1034" descr="C:\WINNT\Profiles\user\Bureau\Porte-documents\photo\j1_5yppn.jpg"/>
          <p:cNvPicPr>
            <a:picLocks noChangeAspect="1" noChangeArrowheads="1"/>
          </p:cNvPicPr>
          <p:nvPr/>
        </p:nvPicPr>
        <p:blipFill>
          <a:blip r:embed="rId5" cstate="print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911225" cy="1371600"/>
          </a:xfrm>
          <a:prstGeom prst="rect">
            <a:avLst/>
          </a:prstGeom>
          <a:noFill/>
          <a:ln w="9525">
            <a:solidFill>
              <a:srgbClr val="33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1035" descr="C:\WINNT\Profiles\user\Bureau\Porte-documents\photo\energy2.jpg"/>
          <p:cNvPicPr>
            <a:picLocks noChangeAspect="1" noChangeArrowheads="1"/>
          </p:cNvPicPr>
          <p:nvPr/>
        </p:nvPicPr>
        <p:blipFill>
          <a:blip r:embed="rId6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49313"/>
            <a:ext cx="1676400" cy="1131887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5" name="Picture 1036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5" t="8902" r="14680" b="19284"/>
          <a:stretch>
            <a:fillRect/>
          </a:stretch>
        </p:blipFill>
        <p:spPr bwMode="auto">
          <a:xfrm>
            <a:off x="533400" y="2971800"/>
            <a:ext cx="1295400" cy="838200"/>
          </a:xfrm>
          <a:prstGeom prst="rect">
            <a:avLst/>
          </a:prstGeom>
          <a:noFill/>
          <a:ln w="9525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6" name="Text Box 1038"/>
          <p:cNvSpPr txBox="1">
            <a:spLocks noChangeArrowheads="1"/>
          </p:cNvSpPr>
          <p:nvPr/>
        </p:nvSpPr>
        <p:spPr bwMode="auto">
          <a:xfrm>
            <a:off x="2743200" y="2362200"/>
            <a:ext cx="7010400" cy="203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3810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en-ZA" altLang="fr-FR"/>
              <a:t>   </a:t>
            </a:r>
            <a:r>
              <a:rPr lang="fr-FR" altLang="fr-FR" sz="2200"/>
              <a:t>Principes de la plate-forme Outils KB3 </a:t>
            </a:r>
            <a:endParaRPr lang="fr-FR" altLang="fr-FR" sz="2200" b="0"/>
          </a:p>
          <a:p>
            <a:pPr algn="just" eaLnBrk="1" hangingPunct="1">
              <a:spcBef>
                <a:spcPct val="20000"/>
              </a:spcBef>
              <a:buClr>
                <a:srgbClr val="FF9933"/>
              </a:buClr>
              <a:buFont typeface="Wingdings" panose="05000000000000000000" pitchFamily="2" charset="2"/>
              <a:buChar char="§"/>
            </a:pPr>
            <a:r>
              <a:rPr lang="fr-FR" altLang="fr-FR" sz="2200"/>
              <a:t>  Base de connaissances et langage FIGARO</a:t>
            </a:r>
          </a:p>
          <a:p>
            <a:pPr algn="just" eaLnBrk="1" hangingPunct="1">
              <a:spcBef>
                <a:spcPct val="20000"/>
              </a:spcBef>
              <a:buClr>
                <a:srgbClr val="FF9933"/>
              </a:buClr>
              <a:buFont typeface="Wingdings" panose="05000000000000000000" pitchFamily="2" charset="2"/>
              <a:buChar char="§"/>
            </a:pPr>
            <a:r>
              <a:rPr lang="fr-FR" altLang="fr-FR" sz="2200"/>
              <a:t>  Visual FIGARO </a:t>
            </a:r>
          </a:p>
          <a:p>
            <a:pPr algn="just" eaLnBrk="1" hangingPunct="1">
              <a:spcBef>
                <a:spcPct val="20000"/>
              </a:spcBef>
              <a:buClr>
                <a:srgbClr val="FF9933"/>
              </a:buClr>
              <a:buFont typeface="Wingdings" panose="05000000000000000000" pitchFamily="2" charset="2"/>
              <a:buChar char="§"/>
            </a:pPr>
            <a:endParaRPr lang="fr-FR" altLang="fr-FR" sz="2200"/>
          </a:p>
          <a:p>
            <a:pPr algn="just" eaLnBrk="1" hangingPunct="1">
              <a:spcBef>
                <a:spcPct val="20000"/>
              </a:spcBef>
              <a:buClr>
                <a:srgbClr val="FF9933"/>
              </a:buClr>
              <a:buFont typeface="Wingdings" panose="05000000000000000000" pitchFamily="2" charset="2"/>
              <a:buChar char="§"/>
            </a:pPr>
            <a:r>
              <a:rPr lang="fr-FR" altLang="fr-FR" sz="2200"/>
              <a:t>Conclusion</a:t>
            </a:r>
          </a:p>
        </p:txBody>
      </p:sp>
      <p:sp>
        <p:nvSpPr>
          <p:cNvPr id="2057" name="Text Box 1039"/>
          <p:cNvSpPr txBox="1">
            <a:spLocks noChangeArrowheads="1"/>
          </p:cNvSpPr>
          <p:nvPr/>
        </p:nvSpPr>
        <p:spPr bwMode="auto">
          <a:xfrm>
            <a:off x="2895600" y="990600"/>
            <a:ext cx="5715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3600">
                <a:solidFill>
                  <a:schemeClr val="folHlink"/>
                </a:solidFill>
              </a:rPr>
              <a:t>Plan</a:t>
            </a:r>
            <a:endParaRPr lang="en-ZA" altLang="fr-FR" sz="36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>
            <p:ph type="title"/>
          </p:nvPr>
        </p:nvSpPr>
        <p:spPr bwMode="auto">
          <a:xfrm>
            <a:off x="1828800" y="0"/>
            <a:ext cx="76200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z="3200" smtClean="0"/>
              <a:t>Principes de la plate-forme Outils KB3</a:t>
            </a:r>
          </a:p>
        </p:txBody>
      </p:sp>
      <p:grpSp>
        <p:nvGrpSpPr>
          <p:cNvPr id="473091" name="Group 3"/>
          <p:cNvGrpSpPr>
            <a:grpSpLocks/>
          </p:cNvGrpSpPr>
          <p:nvPr/>
        </p:nvGrpSpPr>
        <p:grpSpPr bwMode="auto">
          <a:xfrm>
            <a:off x="304800" y="1676400"/>
            <a:ext cx="4210050" cy="5105400"/>
            <a:chOff x="192" y="1056"/>
            <a:chExt cx="2652" cy="3216"/>
          </a:xfrm>
        </p:grpSpPr>
        <p:sp>
          <p:nvSpPr>
            <p:cNvPr id="3098" name="Line 4"/>
            <p:cNvSpPr>
              <a:spLocks noChangeShapeType="1"/>
            </p:cNvSpPr>
            <p:nvPr/>
          </p:nvSpPr>
          <p:spPr bwMode="auto">
            <a:xfrm>
              <a:off x="1008" y="1056"/>
              <a:ext cx="0" cy="1104"/>
            </a:xfrm>
            <a:prstGeom prst="line">
              <a:avLst/>
            </a:prstGeom>
            <a:noFill/>
            <a:ln w="34925">
              <a:solidFill>
                <a:schemeClr val="hlink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fr-FR"/>
            </a:p>
          </p:txBody>
        </p:sp>
        <p:pic>
          <p:nvPicPr>
            <p:cNvPr id="3099" name="Picture 5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28" t="39519" r="13078" b="2342"/>
            <a:stretch>
              <a:fillRect/>
            </a:stretch>
          </p:blipFill>
          <p:spPr bwMode="auto">
            <a:xfrm>
              <a:off x="192" y="2592"/>
              <a:ext cx="2652" cy="16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00" name="Text Box 6"/>
            <p:cNvSpPr txBox="1">
              <a:spLocks noChangeArrowheads="1"/>
            </p:cNvSpPr>
            <p:nvPr/>
          </p:nvSpPr>
          <p:spPr bwMode="auto">
            <a:xfrm>
              <a:off x="288" y="2150"/>
              <a:ext cx="230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fr-FR" altLang="fr-FR">
                  <a:solidFill>
                    <a:srgbClr val="E748FC"/>
                  </a:solidFill>
                </a:rPr>
                <a:t>Saisie graphique</a:t>
              </a:r>
              <a:br>
                <a:rPr lang="fr-FR" altLang="fr-FR">
                  <a:solidFill>
                    <a:srgbClr val="E748FC"/>
                  </a:solidFill>
                </a:rPr>
              </a:br>
              <a:r>
                <a:rPr lang="fr-FR" altLang="fr-FR">
                  <a:solidFill>
                    <a:srgbClr val="E748FC"/>
                  </a:solidFill>
                </a:rPr>
                <a:t>de modèles de systèmes</a:t>
              </a:r>
            </a:p>
          </p:txBody>
        </p:sp>
      </p:grpSp>
      <p:sp>
        <p:nvSpPr>
          <p:cNvPr id="3076" name="Rectangle 7"/>
          <p:cNvSpPr>
            <a:spLocks noChangeArrowheads="1"/>
          </p:cNvSpPr>
          <p:nvPr/>
        </p:nvSpPr>
        <p:spPr bwMode="auto">
          <a:xfrm>
            <a:off x="5486400" y="4191000"/>
            <a:ext cx="33528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fr-FR"/>
          </a:p>
        </p:txBody>
      </p:sp>
      <p:grpSp>
        <p:nvGrpSpPr>
          <p:cNvPr id="473096" name="Group 8"/>
          <p:cNvGrpSpPr>
            <a:grpSpLocks/>
          </p:cNvGrpSpPr>
          <p:nvPr/>
        </p:nvGrpSpPr>
        <p:grpSpPr bwMode="auto">
          <a:xfrm>
            <a:off x="1600200" y="1676400"/>
            <a:ext cx="2971800" cy="1752600"/>
            <a:chOff x="1008" y="1056"/>
            <a:chExt cx="1872" cy="1104"/>
          </a:xfrm>
        </p:grpSpPr>
        <p:sp>
          <p:nvSpPr>
            <p:cNvPr id="3095" name="Oval 9"/>
            <p:cNvSpPr>
              <a:spLocks noChangeArrowheads="1"/>
            </p:cNvSpPr>
            <p:nvPr/>
          </p:nvSpPr>
          <p:spPr bwMode="auto">
            <a:xfrm>
              <a:off x="1392" y="1248"/>
              <a:ext cx="1488" cy="528"/>
            </a:xfrm>
            <a:prstGeom prst="ellipse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fr-FR" altLang="fr-FR" sz="1800">
                  <a:solidFill>
                    <a:srgbClr val="000000"/>
                  </a:solidFill>
                </a:rPr>
                <a:t>Figaro 0</a:t>
              </a:r>
            </a:p>
            <a:p>
              <a:pPr algn="ctr">
                <a:spcBef>
                  <a:spcPct val="0"/>
                </a:spcBef>
              </a:pPr>
              <a:r>
                <a:rPr lang="fr-FR" altLang="fr-FR" sz="1600" b="0">
                  <a:solidFill>
                    <a:srgbClr val="000000"/>
                  </a:solidFill>
                </a:rPr>
                <a:t>(modèle textuel)</a:t>
              </a:r>
            </a:p>
          </p:txBody>
        </p:sp>
        <p:cxnSp>
          <p:nvCxnSpPr>
            <p:cNvPr id="3096" name="AutoShape 10"/>
            <p:cNvCxnSpPr>
              <a:cxnSpLocks noChangeShapeType="1"/>
              <a:endCxn id="3095" idx="2"/>
            </p:cNvCxnSpPr>
            <p:nvPr/>
          </p:nvCxnSpPr>
          <p:spPr bwMode="auto">
            <a:xfrm rot="16200000" flipH="1">
              <a:off x="972" y="1092"/>
              <a:ext cx="456" cy="384"/>
            </a:xfrm>
            <a:prstGeom prst="bentConnector2">
              <a:avLst/>
            </a:prstGeom>
            <a:noFill/>
            <a:ln w="34925">
              <a:solidFill>
                <a:schemeClr val="hlink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097" name="Line 11"/>
            <p:cNvSpPr>
              <a:spLocks noChangeShapeType="1"/>
            </p:cNvSpPr>
            <p:nvPr/>
          </p:nvSpPr>
          <p:spPr bwMode="auto">
            <a:xfrm rot="10800000">
              <a:off x="2112" y="1776"/>
              <a:ext cx="0" cy="38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73100" name="Group 12"/>
          <p:cNvGrpSpPr>
            <a:grpSpLocks/>
          </p:cNvGrpSpPr>
          <p:nvPr/>
        </p:nvGrpSpPr>
        <p:grpSpPr bwMode="auto">
          <a:xfrm>
            <a:off x="4572000" y="2400300"/>
            <a:ext cx="5086350" cy="4276725"/>
            <a:chOff x="2658" y="1512"/>
            <a:chExt cx="2958" cy="2694"/>
          </a:xfrm>
        </p:grpSpPr>
        <p:sp>
          <p:nvSpPr>
            <p:cNvPr id="3093" name="Text Box 13"/>
            <p:cNvSpPr txBox="1">
              <a:spLocks noChangeArrowheads="1"/>
            </p:cNvSpPr>
            <p:nvPr/>
          </p:nvSpPr>
          <p:spPr bwMode="auto">
            <a:xfrm>
              <a:off x="3216" y="3264"/>
              <a:ext cx="2400" cy="942"/>
            </a:xfrm>
            <a:prstGeom prst="rect">
              <a:avLst/>
            </a:prstGeom>
            <a:solidFill>
              <a:srgbClr val="B3221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029" altLang="fr-FR"/>
                <a:t>Simulateur Monte-Carlo :</a:t>
              </a:r>
              <a:r>
                <a:rPr lang="fr-FR" altLang="fr-FR"/>
                <a:t> YAMS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800" b="0"/>
                <a:t>Séquences les plus probables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800" b="0"/>
                <a:t>Fiabilité, disponibilité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800" b="0"/>
                <a:t>Valeurs moyenne de variables numériques…</a:t>
              </a:r>
              <a:endParaRPr lang="fr-FR" altLang="fr-FR" sz="1800" b="0"/>
            </a:p>
          </p:txBody>
        </p:sp>
        <p:cxnSp>
          <p:nvCxnSpPr>
            <p:cNvPr id="3094" name="AutoShape 14"/>
            <p:cNvCxnSpPr>
              <a:cxnSpLocks noChangeShapeType="1"/>
              <a:stCxn id="3095" idx="6"/>
              <a:endCxn id="3093" idx="1"/>
            </p:cNvCxnSpPr>
            <p:nvPr/>
          </p:nvCxnSpPr>
          <p:spPr bwMode="auto">
            <a:xfrm>
              <a:off x="2658" y="1512"/>
              <a:ext cx="558" cy="2223"/>
            </a:xfrm>
            <a:prstGeom prst="bentConnector3">
              <a:avLst>
                <a:gd name="adj1" fmla="val 50000"/>
              </a:avLst>
            </a:prstGeom>
            <a:noFill/>
            <a:ln w="34925">
              <a:solidFill>
                <a:schemeClr val="hlink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pSp>
        <p:nvGrpSpPr>
          <p:cNvPr id="473103" name="Group 15"/>
          <p:cNvGrpSpPr>
            <a:grpSpLocks/>
          </p:cNvGrpSpPr>
          <p:nvPr/>
        </p:nvGrpSpPr>
        <p:grpSpPr bwMode="auto">
          <a:xfrm>
            <a:off x="4572000" y="2362200"/>
            <a:ext cx="5086350" cy="2570163"/>
            <a:chOff x="2658" y="1512"/>
            <a:chExt cx="2958" cy="1595"/>
          </a:xfrm>
        </p:grpSpPr>
        <p:sp>
          <p:nvSpPr>
            <p:cNvPr id="3091" name="Text Box 16"/>
            <p:cNvSpPr txBox="1">
              <a:spLocks noChangeArrowheads="1"/>
            </p:cNvSpPr>
            <p:nvPr/>
          </p:nvSpPr>
          <p:spPr bwMode="auto">
            <a:xfrm>
              <a:off x="3216" y="2160"/>
              <a:ext cx="2400" cy="947"/>
            </a:xfrm>
            <a:prstGeom prst="rect">
              <a:avLst/>
            </a:prstGeom>
            <a:solidFill>
              <a:srgbClr val="B3221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029" altLang="fr-FR"/>
                <a:t>Générateur de séquences :</a:t>
              </a:r>
              <a:r>
                <a:rPr lang="fr-FR" altLang="fr-FR"/>
                <a:t> FIGSEQ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800" b="0"/>
                <a:t>Séquences les plus probables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800" b="0"/>
                <a:t>Fiabilité, MTTR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800" b="0"/>
                <a:t>Indisponibilité asymptotique</a:t>
              </a:r>
              <a:endParaRPr lang="fr-FR" altLang="fr-FR" sz="1800" b="0"/>
            </a:p>
          </p:txBody>
        </p:sp>
        <p:cxnSp>
          <p:nvCxnSpPr>
            <p:cNvPr id="3092" name="AutoShape 17"/>
            <p:cNvCxnSpPr>
              <a:cxnSpLocks noChangeShapeType="1"/>
              <a:stCxn id="3095" idx="6"/>
              <a:endCxn id="3091" idx="1"/>
            </p:cNvCxnSpPr>
            <p:nvPr/>
          </p:nvCxnSpPr>
          <p:spPr bwMode="auto">
            <a:xfrm>
              <a:off x="2658" y="1512"/>
              <a:ext cx="558" cy="1129"/>
            </a:xfrm>
            <a:prstGeom prst="bentConnector3">
              <a:avLst>
                <a:gd name="adj1" fmla="val 50000"/>
              </a:avLst>
            </a:prstGeom>
            <a:noFill/>
            <a:ln w="34925">
              <a:solidFill>
                <a:schemeClr val="hlink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pSp>
        <p:nvGrpSpPr>
          <p:cNvPr id="473106" name="Group 18"/>
          <p:cNvGrpSpPr>
            <a:grpSpLocks/>
          </p:cNvGrpSpPr>
          <p:nvPr/>
        </p:nvGrpSpPr>
        <p:grpSpPr bwMode="auto">
          <a:xfrm>
            <a:off x="4572000" y="1219200"/>
            <a:ext cx="4838700" cy="1181100"/>
            <a:chOff x="2658" y="768"/>
            <a:chExt cx="2814" cy="744"/>
          </a:xfrm>
        </p:grpSpPr>
        <p:cxnSp>
          <p:nvCxnSpPr>
            <p:cNvPr id="3089" name="AutoShape 19"/>
            <p:cNvCxnSpPr>
              <a:cxnSpLocks noChangeShapeType="1"/>
              <a:stCxn id="3095" idx="6"/>
              <a:endCxn id="3090" idx="1"/>
            </p:cNvCxnSpPr>
            <p:nvPr/>
          </p:nvCxnSpPr>
          <p:spPr bwMode="auto">
            <a:xfrm flipV="1">
              <a:off x="2658" y="893"/>
              <a:ext cx="558" cy="619"/>
            </a:xfrm>
            <a:prstGeom prst="bentConnector3">
              <a:avLst>
                <a:gd name="adj1" fmla="val 50000"/>
              </a:avLst>
            </a:prstGeom>
            <a:noFill/>
            <a:ln w="34925">
              <a:solidFill>
                <a:schemeClr val="hlink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090" name="Text Box 20"/>
            <p:cNvSpPr txBox="1">
              <a:spLocks noChangeArrowheads="1"/>
            </p:cNvSpPr>
            <p:nvPr/>
          </p:nvSpPr>
          <p:spPr bwMode="auto">
            <a:xfrm>
              <a:off x="3216" y="768"/>
              <a:ext cx="2256" cy="250"/>
            </a:xfrm>
            <a:prstGeom prst="rect">
              <a:avLst/>
            </a:prstGeom>
            <a:solidFill>
              <a:srgbClr val="B3221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fr-FR" altLang="fr-FR"/>
                <a:t>Générateur d'arbres de KB3</a:t>
              </a:r>
            </a:p>
          </p:txBody>
        </p:sp>
      </p:grpSp>
      <p:sp>
        <p:nvSpPr>
          <p:cNvPr id="473109" name="Text Box 21"/>
          <p:cNvSpPr txBox="1">
            <a:spLocks noChangeArrowheads="1"/>
          </p:cNvSpPr>
          <p:nvPr/>
        </p:nvSpPr>
        <p:spPr bwMode="auto">
          <a:xfrm rot="-5400000">
            <a:off x="3936206" y="1397794"/>
            <a:ext cx="1608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hlink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>
                <a:latin typeface="Frutiger" charset="0"/>
              </a:rPr>
              <a:t>Si modèle statique</a:t>
            </a:r>
          </a:p>
        </p:txBody>
      </p:sp>
      <p:sp>
        <p:nvSpPr>
          <p:cNvPr id="473110" name="Text Box 22"/>
          <p:cNvSpPr txBox="1">
            <a:spLocks noChangeArrowheads="1"/>
          </p:cNvSpPr>
          <p:nvPr/>
        </p:nvSpPr>
        <p:spPr bwMode="auto">
          <a:xfrm rot="-5400000">
            <a:off x="3950493" y="4279107"/>
            <a:ext cx="1579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hlink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>
                <a:latin typeface="Frutiger" charset="0"/>
              </a:rPr>
              <a:t>Si modèle dynamique</a:t>
            </a:r>
          </a:p>
        </p:txBody>
      </p:sp>
      <p:grpSp>
        <p:nvGrpSpPr>
          <p:cNvPr id="473111" name="Group 23"/>
          <p:cNvGrpSpPr>
            <a:grpSpLocks/>
          </p:cNvGrpSpPr>
          <p:nvPr/>
        </p:nvGrpSpPr>
        <p:grpSpPr bwMode="auto">
          <a:xfrm>
            <a:off x="0" y="762000"/>
            <a:ext cx="2806700" cy="1647825"/>
            <a:chOff x="0" y="480"/>
            <a:chExt cx="1632" cy="1038"/>
          </a:xfrm>
        </p:grpSpPr>
        <p:sp>
          <p:nvSpPr>
            <p:cNvPr id="3087" name="Text Box 24"/>
            <p:cNvSpPr txBox="1">
              <a:spLocks noChangeArrowheads="1"/>
            </p:cNvSpPr>
            <p:nvPr/>
          </p:nvSpPr>
          <p:spPr bwMode="auto">
            <a:xfrm>
              <a:off x="0" y="1152"/>
              <a:ext cx="125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fr-FR" altLang="fr-FR" sz="1600" b="0"/>
                <a:t>Description générique</a:t>
              </a:r>
              <a:br>
                <a:rPr lang="fr-FR" altLang="fr-FR" sz="1600" b="0"/>
              </a:br>
              <a:r>
                <a:rPr lang="fr-FR" altLang="fr-FR" sz="1600" b="0"/>
                <a:t>des composants</a:t>
              </a:r>
            </a:p>
          </p:txBody>
        </p:sp>
        <p:sp>
          <p:nvSpPr>
            <p:cNvPr id="3088" name="Oval 25"/>
            <p:cNvSpPr>
              <a:spLocks noChangeArrowheads="1"/>
            </p:cNvSpPr>
            <p:nvPr/>
          </p:nvSpPr>
          <p:spPr bwMode="auto">
            <a:xfrm>
              <a:off x="288" y="480"/>
              <a:ext cx="1344" cy="672"/>
            </a:xfrm>
            <a:prstGeom prst="ellipse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fr-FR" sz="1400">
                  <a:solidFill>
                    <a:srgbClr val="232323"/>
                  </a:solidFill>
                </a:rPr>
                <a:t>Base de connaissances</a:t>
              </a:r>
              <a:br>
                <a:rPr lang="en-US" altLang="fr-FR" sz="1400">
                  <a:solidFill>
                    <a:srgbClr val="232323"/>
                  </a:solidFill>
                </a:rPr>
              </a:br>
              <a:r>
                <a:rPr lang="en-US" altLang="fr-FR" sz="1400">
                  <a:solidFill>
                    <a:srgbClr val="232323"/>
                  </a:solidFill>
                </a:rPr>
                <a:t> (en langage FIGARO)</a:t>
              </a:r>
            </a:p>
          </p:txBody>
        </p:sp>
      </p:grpSp>
      <p:grpSp>
        <p:nvGrpSpPr>
          <p:cNvPr id="473114" name="Group 26"/>
          <p:cNvGrpSpPr>
            <a:grpSpLocks/>
          </p:cNvGrpSpPr>
          <p:nvPr/>
        </p:nvGrpSpPr>
        <p:grpSpPr bwMode="auto">
          <a:xfrm>
            <a:off x="5943600" y="1600200"/>
            <a:ext cx="3657600" cy="1660525"/>
            <a:chOff x="3456" y="1008"/>
            <a:chExt cx="2064" cy="1046"/>
          </a:xfrm>
        </p:grpSpPr>
        <p:sp>
          <p:nvSpPr>
            <p:cNvPr id="3085" name="Rectangle 27"/>
            <p:cNvSpPr>
              <a:spLocks noChangeArrowheads="1"/>
            </p:cNvSpPr>
            <p:nvPr/>
          </p:nvSpPr>
          <p:spPr bwMode="auto">
            <a:xfrm>
              <a:off x="3456" y="1152"/>
              <a:ext cx="2064" cy="9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4925">
                  <a:solidFill>
                    <a:schemeClr val="hlink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fr-FR" sz="1600">
                  <a:solidFill>
                    <a:schemeClr val="tx2"/>
                  </a:solidFill>
                </a:rPr>
                <a:t>Outils standard de traitement ADD </a:t>
              </a:r>
              <a:r>
                <a:rPr lang="fr-FR" altLang="fr-FR" sz="1600">
                  <a:solidFill>
                    <a:schemeClr val="tx2"/>
                  </a:solidFill>
                </a:rPr>
                <a:t>: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fr-FR" altLang="fr-FR" sz="1600">
                  <a:solidFill>
                    <a:schemeClr val="tx2"/>
                  </a:solidFill>
                </a:rPr>
                <a:t>Aralia, Risk-Spectrum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400" b="0">
                  <a:solidFill>
                    <a:schemeClr val="tx2"/>
                  </a:solidFill>
                </a:rPr>
                <a:t>Coupes minimales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400" b="0">
                  <a:solidFill>
                    <a:schemeClr val="tx2"/>
                  </a:solidFill>
                </a:rPr>
                <a:t>Fiabilité, 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400" b="0">
                  <a:solidFill>
                    <a:schemeClr val="tx2"/>
                  </a:solidFill>
                </a:rPr>
                <a:t>Disponibilité </a:t>
              </a:r>
            </a:p>
            <a:p>
              <a:pPr>
                <a:spcBef>
                  <a:spcPct val="0"/>
                </a:spcBef>
                <a:buFont typeface="Wingdings" panose="05000000000000000000" pitchFamily="2" charset="2"/>
                <a:buChar char="ü"/>
              </a:pPr>
              <a:r>
                <a:rPr lang="en-US" altLang="fr-FR" sz="1400" b="0">
                  <a:solidFill>
                    <a:schemeClr val="tx2"/>
                  </a:solidFill>
                </a:rPr>
                <a:t>Facteurs d'importance</a:t>
              </a:r>
              <a:endParaRPr lang="fr-FR" altLang="fr-FR" sz="1400" b="0">
                <a:solidFill>
                  <a:schemeClr val="tx2"/>
                </a:solidFill>
              </a:endParaRPr>
            </a:p>
          </p:txBody>
        </p:sp>
        <p:sp>
          <p:nvSpPr>
            <p:cNvPr id="3086" name="Line 28"/>
            <p:cNvSpPr>
              <a:spLocks noChangeShapeType="1"/>
            </p:cNvSpPr>
            <p:nvPr/>
          </p:nvSpPr>
          <p:spPr bwMode="auto">
            <a:xfrm>
              <a:off x="4320" y="1008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7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7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3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3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7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73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73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7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7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3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3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3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73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109" grpId="0" autoUpdateAnimBg="0"/>
      <p:bldP spid="47311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1403350" y="5105400"/>
            <a:ext cx="79025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800" b="0">
                <a:solidFill>
                  <a:srgbClr val="232323"/>
                </a:solidFill>
              </a:rPr>
              <a:t>Totalement compatible avec les outils de  MS Office (copier/coller de et vers Word, Excel…)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6350"/>
            <a:ext cx="9448800" cy="686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9448800" cy="686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88392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mtClean="0"/>
              <a:t>Une bdc = définition d'un langage graphique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381000" y="1600200"/>
            <a:ext cx="87630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0" rIns="18000" bIns="0"/>
          <a:lstStyle>
            <a:lvl1pPr marL="342900" indent="-342900" defTabSz="762000" eaLnBrk="0" hangingPunct="0">
              <a:tabLst>
                <a:tab pos="571500" algn="l"/>
                <a:tab pos="952500" algn="l"/>
                <a:tab pos="13335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 eaLnBrk="0" hangingPunct="0">
              <a:tabLst>
                <a:tab pos="571500" algn="l"/>
                <a:tab pos="952500" algn="l"/>
                <a:tab pos="13335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500" indent="-190500" defTabSz="762000" eaLnBrk="0" hangingPunct="0">
              <a:tabLst>
                <a:tab pos="571500" algn="l"/>
                <a:tab pos="952500" algn="l"/>
                <a:tab pos="13335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33500" indent="-190500" defTabSz="762000" eaLnBrk="0" hangingPunct="0">
              <a:tabLst>
                <a:tab pos="571500" algn="l"/>
                <a:tab pos="952500" algn="l"/>
                <a:tab pos="13335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 eaLnBrk="0" hangingPunct="0">
              <a:tabLst>
                <a:tab pos="571500" algn="l"/>
                <a:tab pos="952500" algn="l"/>
                <a:tab pos="13335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571500" algn="l"/>
                <a:tab pos="952500" algn="l"/>
                <a:tab pos="13335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571500" algn="l"/>
                <a:tab pos="952500" algn="l"/>
                <a:tab pos="13335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571500" algn="l"/>
                <a:tab pos="952500" algn="l"/>
                <a:tab pos="13335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50000"/>
              </a:spcBef>
              <a:spcAft>
                <a:spcPct val="0"/>
              </a:spcAft>
              <a:tabLst>
                <a:tab pos="571500" algn="l"/>
                <a:tab pos="952500" algn="l"/>
                <a:tab pos="13335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9933"/>
              </a:buClr>
              <a:buFont typeface="Wingdings" panose="05000000000000000000" pitchFamily="2" charset="2"/>
              <a:buChar char="§"/>
            </a:pPr>
            <a:r>
              <a:rPr lang="fr-FR" altLang="fr-FR" sz="2400"/>
              <a:t>Eléments d'une base de connaissances pour KB3</a:t>
            </a:r>
          </a:p>
          <a:p>
            <a:pPr eaLnBrk="1" hangingPunct="1">
              <a:spcBef>
                <a:spcPct val="20000"/>
              </a:spcBef>
              <a:buClr>
                <a:srgbClr val="FF9933"/>
              </a:buClr>
              <a:buFont typeface="Wingdings" panose="05000000000000000000" pitchFamily="2" charset="2"/>
              <a:buChar char="§"/>
            </a:pPr>
            <a:endParaRPr lang="fr-FR" altLang="fr-FR" sz="2400"/>
          </a:p>
          <a:p>
            <a:pPr lvl="2" eaLnBrk="1" hangingPunct="1">
              <a:buClr>
                <a:schemeClr val="tx1"/>
              </a:buClr>
              <a:buSzPct val="75000"/>
              <a:buFont typeface="Wingdings" panose="05000000000000000000" pitchFamily="2" charset="2"/>
              <a:buChar char="§"/>
            </a:pPr>
            <a:r>
              <a:rPr lang="fr-FR" altLang="fr-FR" b="0"/>
              <a:t>Un fichier texte (extension .fi)</a:t>
            </a:r>
          </a:p>
          <a:p>
            <a:pPr lvl="3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fr-FR" altLang="fr-FR" sz="1800" b="0"/>
              <a:t>Décrit les composants qui constituent le système : sémantique, en langage FIGARO</a:t>
            </a:r>
          </a:p>
          <a:p>
            <a:pPr lvl="2" eaLnBrk="1" hangingPunct="1">
              <a:buClr>
                <a:schemeClr val="tx1"/>
              </a:buClr>
              <a:buSzPct val="75000"/>
              <a:buFont typeface="Wingdings" panose="05000000000000000000" pitchFamily="2" charset="2"/>
              <a:buChar char="§"/>
            </a:pPr>
            <a:endParaRPr lang="fr-FR" altLang="fr-FR" b="0"/>
          </a:p>
          <a:p>
            <a:pPr lvl="2" eaLnBrk="1" hangingPunct="1">
              <a:buClr>
                <a:schemeClr val="tx1"/>
              </a:buClr>
              <a:buSzPct val="75000"/>
              <a:buFont typeface="Wingdings" panose="05000000000000000000" pitchFamily="2" charset="2"/>
              <a:buChar char="§"/>
            </a:pPr>
            <a:r>
              <a:rPr lang="fr-FR" altLang="fr-FR" b="0"/>
              <a:t>Un fichier XML (extension .bdc)</a:t>
            </a:r>
          </a:p>
          <a:p>
            <a:pPr lvl="3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fr-FR" altLang="fr-FR" sz="1800" b="0"/>
              <a:t>Décrit la façon dont les composants vont pouvoir être utilisés par l’utilisateur au sein de KB3 + des modes de visualisation en couleurs…</a:t>
            </a:r>
          </a:p>
          <a:p>
            <a:pPr lvl="3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endParaRPr lang="fr-FR" altLang="fr-FR" sz="1800" b="0"/>
          </a:p>
          <a:p>
            <a:pPr lvl="2" eaLnBrk="1" hangingPunct="1">
              <a:buClr>
                <a:schemeClr val="tx1"/>
              </a:buClr>
              <a:buSzPct val="75000"/>
              <a:buFont typeface="Wingdings" panose="05000000000000000000" pitchFamily="2" charset="2"/>
              <a:buChar char="§"/>
            </a:pPr>
            <a:r>
              <a:rPr lang="fr-FR" altLang="fr-FR" b="0"/>
              <a:t>Un ensemble d’icônes (extension .sym)</a:t>
            </a:r>
          </a:p>
          <a:p>
            <a:pPr lvl="3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Char char="§"/>
            </a:pPr>
            <a:r>
              <a:rPr lang="fr-FR" altLang="fr-FR" sz="1800" b="0"/>
              <a:t>Permettent d'associer une (ou plusieurs si variantes graphiques) icônes à chaque composant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83820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mtClean="0"/>
              <a:t>Objectifs de Visual FIGARO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90678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mtClean="0"/>
              <a:t>Un outil pour experts</a:t>
            </a:r>
          </a:p>
          <a:p>
            <a:pPr lvl="1" eaLnBrk="1" hangingPunct="1"/>
            <a:r>
              <a:rPr lang="fr-FR" altLang="fr-FR" smtClean="0"/>
              <a:t>Editeur de texte classique puissant pour la partie FIGARO</a:t>
            </a:r>
          </a:p>
          <a:p>
            <a:pPr lvl="1" eaLnBrk="1" hangingPunct="1"/>
            <a:r>
              <a:rPr lang="fr-FR" altLang="fr-FR" smtClean="0"/>
              <a:t>Outil de navigation aisée pour les grosses bdc</a:t>
            </a:r>
          </a:p>
          <a:p>
            <a:pPr lvl="1" eaLnBrk="1" hangingPunct="1"/>
            <a:r>
              <a:rPr lang="fr-FR" altLang="fr-FR" smtClean="0"/>
              <a:t>Coloration syntaxique</a:t>
            </a:r>
          </a:p>
          <a:p>
            <a:pPr lvl="1" eaLnBrk="1" hangingPunct="1"/>
            <a:r>
              <a:rPr lang="fr-FR" altLang="fr-FR" smtClean="0"/>
              <a:t>Vérification syntaxique</a:t>
            </a:r>
          </a:p>
          <a:p>
            <a:pPr lvl="1" eaLnBrk="1" hangingPunct="1"/>
            <a:r>
              <a:rPr lang="fr-FR" altLang="fr-FR" smtClean="0"/>
              <a:t>Cohérence assurée entre les fichiers FIGARO et XML</a:t>
            </a:r>
          </a:p>
          <a:p>
            <a:pPr eaLnBrk="1" hangingPunct="1"/>
            <a:r>
              <a:rPr lang="fr-FR" altLang="fr-FR" smtClean="0"/>
              <a:t>Mais aussi un outil pour débutants</a:t>
            </a:r>
          </a:p>
          <a:p>
            <a:pPr lvl="1" eaLnBrk="1" hangingPunct="1"/>
            <a:r>
              <a:rPr lang="fr-FR" altLang="fr-FR" smtClean="0"/>
              <a:t>Aide syntaxique avec formules types </a:t>
            </a:r>
            <a:r>
              <a:rPr lang="fr-FR" altLang="fr-FR" b="1" i="1" smtClean="0"/>
              <a:t>commentées</a:t>
            </a:r>
          </a:p>
          <a:p>
            <a:pPr lvl="1" eaLnBrk="1" hangingPunct="1"/>
            <a:r>
              <a:rPr lang="fr-FR" altLang="fr-FR" smtClean="0"/>
              <a:t>IHM "directive" par menus, choix prédéfinis… pour le XML</a:t>
            </a:r>
            <a:endParaRPr lang="fr-FR" altLang="fr-FR" b="1" i="1" smtClean="0"/>
          </a:p>
          <a:p>
            <a:pPr lvl="1" eaLnBrk="1" hangingPunct="1"/>
            <a:endParaRPr lang="fr-FR" altLang="fr-FR" smtClean="0"/>
          </a:p>
          <a:p>
            <a:pPr eaLnBrk="1" hangingPunct="1"/>
            <a:endParaRPr lang="fr-FR" altLang="fr-FR" smtClean="0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3184525" y="6259513"/>
            <a:ext cx="2455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/>
              <a:t>… en open source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>
            <p:ph type="title"/>
          </p:nvPr>
        </p:nvSpPr>
        <p:spPr bwMode="auto">
          <a:xfrm>
            <a:off x="914400" y="457200"/>
            <a:ext cx="8382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z="3200" b="0" smtClean="0"/>
              <a:t>Visual FIGARO est semblable à des interfaces de programmation existantes</a:t>
            </a:r>
          </a:p>
        </p:txBody>
      </p:sp>
      <p:sp>
        <p:nvSpPr>
          <p:cNvPr id="9219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762000" y="1981200"/>
            <a:ext cx="83820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mtClean="0"/>
              <a:t>Par exemple</a:t>
            </a:r>
          </a:p>
          <a:p>
            <a:pPr eaLnBrk="1" hangingPunct="1"/>
            <a:endParaRPr lang="fr-FR" altLang="fr-FR" smtClean="0">
              <a:solidFill>
                <a:srgbClr val="000000"/>
              </a:solidFill>
            </a:endParaRPr>
          </a:p>
          <a:p>
            <a:pPr lvl="2" eaLnBrk="1" hangingPunct="1"/>
            <a:r>
              <a:rPr lang="fr-FR" altLang="fr-FR" smtClean="0"/>
              <a:t>Visual Studio</a:t>
            </a:r>
          </a:p>
          <a:p>
            <a:pPr lvl="2" eaLnBrk="1" hangingPunct="1"/>
            <a:endParaRPr lang="fr-FR" altLang="fr-FR" smtClean="0"/>
          </a:p>
          <a:p>
            <a:pPr lvl="2" eaLnBrk="1" hangingPunct="1"/>
            <a:r>
              <a:rPr lang="fr-FR" altLang="fr-FR" smtClean="0"/>
              <a:t>Eclipse</a:t>
            </a:r>
          </a:p>
          <a:p>
            <a:pPr lvl="2" eaLnBrk="1" hangingPunct="1"/>
            <a:endParaRPr lang="fr-FR" altLang="fr-FR" smtClean="0"/>
          </a:p>
          <a:p>
            <a:pPr lvl="2" eaLnBrk="1" hangingPunct="1"/>
            <a:r>
              <a:rPr lang="fr-FR" altLang="fr-FR" smtClean="0"/>
              <a:t>Netbeans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fr-FR" alt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>
            <p:ph type="title"/>
          </p:nvPr>
        </p:nvSpPr>
        <p:spPr bwMode="auto">
          <a:xfrm>
            <a:off x="762000" y="609600"/>
            <a:ext cx="8382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z="3600" smtClean="0"/>
              <a:t>Visual studio</a:t>
            </a:r>
          </a:p>
        </p:txBody>
      </p:sp>
      <p:pic>
        <p:nvPicPr>
          <p:cNvPr id="1024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00200"/>
            <a:ext cx="8034338" cy="448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ChangeArrowheads="1"/>
          </p:cNvSpPr>
          <p:nvPr>
            <p:ph type="title"/>
          </p:nvPr>
        </p:nvSpPr>
        <p:spPr bwMode="auto">
          <a:xfrm>
            <a:off x="762000" y="609600"/>
            <a:ext cx="8382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mtClean="0"/>
              <a:t>Eclipse</a:t>
            </a:r>
          </a:p>
        </p:txBody>
      </p:sp>
      <p:pic>
        <p:nvPicPr>
          <p:cNvPr id="11267" name="Picture 10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00200"/>
            <a:ext cx="842486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>
            <p:ph type="title"/>
          </p:nvPr>
        </p:nvSpPr>
        <p:spPr bwMode="auto">
          <a:xfrm>
            <a:off x="762000" y="609600"/>
            <a:ext cx="8382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mtClean="0"/>
              <a:t>Netbeans</a:t>
            </a:r>
          </a:p>
        </p:txBody>
      </p:sp>
      <p:pic>
        <p:nvPicPr>
          <p:cNvPr id="1229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47800"/>
            <a:ext cx="7720013" cy="452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>
            <p:ph type="title"/>
          </p:nvPr>
        </p:nvSpPr>
        <p:spPr bwMode="auto">
          <a:xfrm>
            <a:off x="609600" y="0"/>
            <a:ext cx="8382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z="3100" smtClean="0"/>
              <a:t>Visual FIGARO</a:t>
            </a:r>
          </a:p>
        </p:txBody>
      </p:sp>
      <p:pic>
        <p:nvPicPr>
          <p:cNvPr id="1331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90538"/>
            <a:ext cx="8763000" cy="6367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96646" name="AutoShape 6"/>
          <p:cNvSpPr>
            <a:spLocks noChangeArrowheads="1"/>
          </p:cNvSpPr>
          <p:nvPr/>
        </p:nvSpPr>
        <p:spPr bwMode="auto">
          <a:xfrm>
            <a:off x="3581400" y="1219200"/>
            <a:ext cx="5638800" cy="5233988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131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fr-FR" altLang="fr-FR" sz="3600" b="0">
                <a:solidFill>
                  <a:srgbClr val="FF1313"/>
                </a:solidFill>
                <a:latin typeface="Times New Roman" panose="02020603050405020304" pitchFamily="18" charset="0"/>
              </a:rPr>
              <a:t>FIGARO</a:t>
            </a:r>
          </a:p>
        </p:txBody>
      </p:sp>
      <p:sp>
        <p:nvSpPr>
          <p:cNvPr id="496647" name="AutoShape 7"/>
          <p:cNvSpPr>
            <a:spLocks noChangeArrowheads="1"/>
          </p:cNvSpPr>
          <p:nvPr/>
        </p:nvSpPr>
        <p:spPr bwMode="auto">
          <a:xfrm>
            <a:off x="838200" y="1295400"/>
            <a:ext cx="2209800" cy="44196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131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fr-FR" altLang="fr-FR" sz="3600" b="0">
                <a:solidFill>
                  <a:srgbClr val="FF1313"/>
                </a:solidFill>
                <a:latin typeface="Times New Roman" panose="02020603050405020304" pitchFamily="18" charset="0"/>
              </a:rPr>
              <a:t>Squelette</a:t>
            </a:r>
          </a:p>
          <a:p>
            <a:pPr algn="ctr" eaLnBrk="1" hangingPunct="1">
              <a:spcBef>
                <a:spcPct val="0"/>
              </a:spcBef>
            </a:pPr>
            <a:endParaRPr lang="fr-FR" altLang="fr-FR" sz="3600" b="0">
              <a:solidFill>
                <a:srgbClr val="FF1313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</a:pPr>
            <a:r>
              <a:rPr lang="fr-FR" altLang="fr-FR" sz="3600" b="0">
                <a:solidFill>
                  <a:srgbClr val="FF1313"/>
                </a:solidFill>
                <a:latin typeface="Times New Roman" panose="02020603050405020304" pitchFamily="18" charset="0"/>
              </a:rPr>
              <a:t>BDC</a:t>
            </a:r>
          </a:p>
        </p:txBody>
      </p:sp>
      <p:grpSp>
        <p:nvGrpSpPr>
          <p:cNvPr id="13318" name="Group 10"/>
          <p:cNvGrpSpPr>
            <a:grpSpLocks/>
          </p:cNvGrpSpPr>
          <p:nvPr/>
        </p:nvGrpSpPr>
        <p:grpSpPr bwMode="auto">
          <a:xfrm>
            <a:off x="0" y="990600"/>
            <a:ext cx="2057400" cy="625475"/>
            <a:chOff x="0" y="624"/>
            <a:chExt cx="1296" cy="394"/>
          </a:xfrm>
        </p:grpSpPr>
        <p:sp>
          <p:nvSpPr>
            <p:cNvPr id="13319" name="Text Box 8"/>
            <p:cNvSpPr txBox="1">
              <a:spLocks noChangeArrowheads="1"/>
            </p:cNvSpPr>
            <p:nvPr/>
          </p:nvSpPr>
          <p:spPr bwMode="auto">
            <a:xfrm>
              <a:off x="0" y="768"/>
              <a:ext cx="4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/>
                <a:t>XML</a:t>
              </a:r>
            </a:p>
          </p:txBody>
        </p:sp>
        <p:sp>
          <p:nvSpPr>
            <p:cNvPr id="13320" name="Line 9"/>
            <p:cNvSpPr>
              <a:spLocks noChangeShapeType="1"/>
            </p:cNvSpPr>
            <p:nvPr/>
          </p:nvSpPr>
          <p:spPr bwMode="auto">
            <a:xfrm flipV="1">
              <a:off x="384" y="624"/>
              <a:ext cx="912" cy="24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6" grpId="0" animBg="1" autoUpdateAnimBg="0"/>
      <p:bldP spid="496647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33400"/>
            <a:ext cx="8382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mtClean="0"/>
              <a:t>Visual FIGARO sera diffusé</a:t>
            </a:r>
            <a:br>
              <a:rPr lang="fr-FR" altLang="fr-FR" smtClean="0"/>
            </a:br>
            <a:r>
              <a:rPr lang="fr-FR" altLang="fr-FR" smtClean="0"/>
              <a:t> en open source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05000"/>
            <a:ext cx="8686800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fr-FR" altLang="fr-FR" sz="2000" smtClean="0"/>
              <a:t>En Java (sdk 6.x de SUN) - portabilité excellente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2000" smtClean="0"/>
              <a:t>Plugin de l'éditeur de texte Jedit (open source)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 smtClean="0"/>
              <a:t>Coloration syntaxique paramétrable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 smtClean="0"/>
              <a:t>Possibilité de « réduire » des pans de code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 smtClean="0"/>
              <a:t>Copier-coller sous de multiples formes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 smtClean="0"/>
              <a:t>Possibilités d'annulation des dernières actions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 smtClean="0"/>
              <a:t>Support de différentes langues pour les menus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 smtClean="0"/>
              <a:t>Bien documenté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 smtClean="0"/>
              <a:t>Existence de nombreux plugins</a:t>
            </a:r>
          </a:p>
          <a:p>
            <a:pPr lvl="1" eaLnBrk="1" hangingPunct="1">
              <a:lnSpc>
                <a:spcPct val="90000"/>
              </a:lnSpc>
            </a:pPr>
            <a:endParaRPr lang="fr-FR" altLang="fr-FR" sz="2000" smtClean="0"/>
          </a:p>
          <a:p>
            <a:pPr eaLnBrk="1" hangingPunct="1">
              <a:lnSpc>
                <a:spcPct val="90000"/>
              </a:lnSpc>
            </a:pPr>
            <a:r>
              <a:rPr lang="fr-FR" altLang="fr-FR" sz="2000" smtClean="0"/>
              <a:t>Utilise aussi Jtree pour le dessin des arbres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28813" y="115888"/>
            <a:ext cx="63246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fr-FR" smtClean="0"/>
              <a:t>Accès aux outils de la</a:t>
            </a:r>
            <a:br>
              <a:rPr lang="fr-FR" altLang="fr-FR" smtClean="0"/>
            </a:br>
            <a:r>
              <a:rPr lang="fr-FR" altLang="fr-FR" smtClean="0"/>
              <a:t> Plate-forme Outils KB3 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685800" y="1447800"/>
            <a:ext cx="820102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/>
              <a:t>KB3 est disponible en version de démonstration :</a:t>
            </a:r>
          </a:p>
          <a:p>
            <a:pPr eaLnBrk="1" hangingPunct="1"/>
            <a:r>
              <a:rPr lang="fr-FR" altLang="fr-FR"/>
              <a:t>Seule limitation : le nombre d’objets dans une étude est limité à 80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679450" y="2362200"/>
            <a:ext cx="8186738" cy="71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/>
              <a:t>On peut le télécharger (en Français et en Anglais) sur le site :</a:t>
            </a:r>
          </a:p>
          <a:p>
            <a:pPr algn="ctr" eaLnBrk="1" hangingPunct="1"/>
            <a:r>
              <a:rPr lang="fr-FR" altLang="fr-FR" sz="1400"/>
              <a:t>http://research.edf.com/research-and-the-scientific-community/softwares/softwares-44329.html</a:t>
            </a:r>
          </a:p>
        </p:txBody>
      </p:sp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1447800" y="3352800"/>
            <a:ext cx="6950075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/>
              <a:t>La version de démonstration est fournie avec</a:t>
            </a:r>
          </a:p>
          <a:p>
            <a:pPr lvl="1" eaLnBrk="1" hangingPunct="1">
              <a:buFontTx/>
              <a:buChar char="•"/>
            </a:pPr>
            <a:r>
              <a:rPr lang="fr-FR" altLang="fr-FR"/>
              <a:t> des bases de connaissances : Diagfia, Petri, </a:t>
            </a:r>
            <a:r>
              <a:rPr lang="fr-FR" altLang="fr-FR">
                <a:solidFill>
                  <a:schemeClr val="hlink"/>
                </a:solidFill>
              </a:rPr>
              <a:t>BDMP</a:t>
            </a:r>
          </a:p>
          <a:p>
            <a:pPr lvl="1" eaLnBrk="1" hangingPunct="1">
              <a:buFontTx/>
              <a:buChar char="•"/>
            </a:pPr>
            <a:r>
              <a:rPr lang="fr-FR" altLang="fr-FR"/>
              <a:t> de nombreux exemples de modèles</a:t>
            </a:r>
          </a:p>
          <a:p>
            <a:pPr lvl="1" eaLnBrk="1" hangingPunct="1">
              <a:buFontTx/>
              <a:buChar char="•"/>
            </a:pPr>
            <a:r>
              <a:rPr lang="fr-FR" altLang="fr-FR"/>
              <a:t> des manuels utilisateurs</a:t>
            </a:r>
          </a:p>
          <a:p>
            <a:pPr lvl="1" eaLnBrk="1" hangingPunct="1">
              <a:buFontTx/>
              <a:buChar char="•"/>
            </a:pPr>
            <a:r>
              <a:rPr lang="fr-FR" altLang="fr-FR"/>
              <a:t> un ensemble d’articles de congrès</a:t>
            </a:r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685800" y="5638800"/>
            <a:ext cx="6680200" cy="116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>
                <a:solidFill>
                  <a:schemeClr val="hlink"/>
                </a:solidFill>
              </a:rPr>
              <a:t>Visual FIGARO est en open-source</a:t>
            </a:r>
          </a:p>
          <a:p>
            <a:pPr eaLnBrk="1" hangingPunct="1"/>
            <a:r>
              <a:rPr lang="fr-FR" altLang="fr-FR">
                <a:solidFill>
                  <a:schemeClr val="hlink"/>
                </a:solidFill>
              </a:rPr>
              <a:t>Il est disponible sur Sourceforge : </a:t>
            </a:r>
            <a:br>
              <a:rPr lang="fr-FR" altLang="fr-FR">
                <a:solidFill>
                  <a:schemeClr val="hlink"/>
                </a:solidFill>
              </a:rPr>
            </a:br>
            <a:r>
              <a:rPr lang="fr-FR" altLang="fr-FR">
                <a:solidFill>
                  <a:schemeClr val="hlink"/>
                </a:solidFill>
              </a:rPr>
              <a:t>               https://sourceforge.net/projects/visualfigaro/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>
            <p:ph type="title"/>
          </p:nvPr>
        </p:nvSpPr>
        <p:spPr bwMode="auto">
          <a:xfrm>
            <a:off x="762000" y="609600"/>
            <a:ext cx="8382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altLang="fr-FR" smtClean="0"/>
              <a:t>Conclusion</a:t>
            </a:r>
          </a:p>
        </p:txBody>
      </p:sp>
      <p:sp>
        <p:nvSpPr>
          <p:cNvPr id="393219" name="Rectangle 3"/>
          <p:cNvSpPr>
            <a:spLocks noChangeArrowheads="1"/>
          </p:cNvSpPr>
          <p:nvPr>
            <p:ph type="body" idx="1"/>
          </p:nvPr>
        </p:nvSpPr>
        <p:spPr bwMode="auto">
          <a:xfrm>
            <a:off x="304800" y="1752600"/>
            <a:ext cx="9296400" cy="419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tabLst/>
            </a:pPr>
            <a:r>
              <a:rPr lang="fr-FR" altLang="fr-FR" smtClean="0"/>
              <a:t>La base est un éditeur de texte puissant en Open source</a:t>
            </a:r>
          </a:p>
          <a:p>
            <a:pPr algn="just" eaLnBrk="1" hangingPunct="1">
              <a:tabLst/>
            </a:pPr>
            <a:r>
              <a:rPr lang="fr-FR" altLang="fr-FR" smtClean="0"/>
              <a:t>Bases de connaissances existantes</a:t>
            </a:r>
          </a:p>
          <a:p>
            <a:pPr marL="952500" lvl="1" indent="-381000" algn="just" eaLnBrk="1" hangingPunct="1">
              <a:tabLst/>
            </a:pPr>
            <a:r>
              <a:rPr lang="fr-FR" altLang="fr-FR" smtClean="0"/>
              <a:t>FIGARO -&gt; exploration rapide</a:t>
            </a:r>
          </a:p>
          <a:p>
            <a:pPr marL="952500" lvl="1" indent="-381000" algn="just" eaLnBrk="1" hangingPunct="1">
              <a:tabLst/>
            </a:pPr>
            <a:r>
              <a:rPr lang="fr-FR" altLang="fr-FR" smtClean="0"/>
              <a:t>Paramétrage IHM KB3 -&gt; édition assistée, cohérence avec la partie en FIGARO </a:t>
            </a:r>
          </a:p>
          <a:p>
            <a:pPr algn="just" eaLnBrk="1" hangingPunct="1">
              <a:tabLst/>
            </a:pPr>
            <a:r>
              <a:rPr lang="fr-FR" altLang="fr-FR" smtClean="0"/>
              <a:t>Nouvelles bases de connaissances</a:t>
            </a:r>
          </a:p>
          <a:p>
            <a:pPr marL="952500" lvl="1" indent="-381000" algn="just" eaLnBrk="1" hangingPunct="1">
              <a:tabLst/>
            </a:pPr>
            <a:r>
              <a:rPr lang="fr-FR" altLang="fr-FR" smtClean="0"/>
              <a:t>Ecriture rapide (formules types)</a:t>
            </a:r>
          </a:p>
          <a:p>
            <a:pPr marL="952500" lvl="1" indent="-381000" algn="just" eaLnBrk="1" hangingPunct="1">
              <a:tabLst/>
            </a:pPr>
            <a:r>
              <a:rPr lang="fr-FR" altLang="fr-FR" smtClean="0"/>
              <a:t>Guidage pour les débutants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FFFFFF"/>
      </a:dk1>
      <a:lt1>
        <a:srgbClr val="FFFFFF"/>
      </a:lt1>
      <a:dk2>
        <a:srgbClr val="063DE8"/>
      </a:dk2>
      <a:lt2>
        <a:srgbClr val="0000FF"/>
      </a:lt2>
      <a:accent1>
        <a:srgbClr val="FF0000"/>
      </a:accent1>
      <a:accent2>
        <a:srgbClr val="FFFF00"/>
      </a:accent2>
      <a:accent3>
        <a:srgbClr val="AAAFF2"/>
      </a:accent3>
      <a:accent4>
        <a:srgbClr val="DADADA"/>
      </a:accent4>
      <a:accent5>
        <a:srgbClr val="FFAAAA"/>
      </a:accent5>
      <a:accent6>
        <a:srgbClr val="E7E700"/>
      </a:accent6>
      <a:hlink>
        <a:srgbClr val="FF9900"/>
      </a:hlink>
      <a:folHlink>
        <a:srgbClr val="FF99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381000" algn="l"/>
          </a:tabLst>
          <a:defRPr kumimoji="0" lang="en-GB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381000" algn="l"/>
          </a:tabLst>
          <a:defRPr kumimoji="0" lang="en-GB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ages>185</Pages>
  <Words>516</Words>
  <Application>Microsoft Office PowerPoint</Application>
  <PresentationFormat>Format A4 (210 x 297 mm)</PresentationFormat>
  <Paragraphs>124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Wingdings</vt:lpstr>
      <vt:lpstr>Times New Roman</vt:lpstr>
      <vt:lpstr>Bookman Old Style</vt:lpstr>
      <vt:lpstr>Frutiger</vt:lpstr>
      <vt:lpstr>Modèle par défaut</vt:lpstr>
      <vt:lpstr>Présentation PowerPoint</vt:lpstr>
      <vt:lpstr>Présentation PowerPoint</vt:lpstr>
      <vt:lpstr>Principes de la plate-forme Outils KB3</vt:lpstr>
      <vt:lpstr>Présentation PowerPoint</vt:lpstr>
      <vt:lpstr>Présentation PowerPoint</vt:lpstr>
      <vt:lpstr>Présentation PowerPoint</vt:lpstr>
      <vt:lpstr>Une bdc = définition d'un langage graphique</vt:lpstr>
      <vt:lpstr>Objectifs de Visual FIGARO</vt:lpstr>
      <vt:lpstr>Visual FIGARO est semblable à des interfaces de programmation existantes</vt:lpstr>
      <vt:lpstr>Visual studio</vt:lpstr>
      <vt:lpstr>Eclipse</vt:lpstr>
      <vt:lpstr>Netbeans</vt:lpstr>
      <vt:lpstr>Visual FIGARO</vt:lpstr>
      <vt:lpstr>Visual FIGARO sera diffusé  en open source</vt:lpstr>
      <vt:lpstr>Accès aux outils de la  Plate-forme Outils KB3 </vt:lpstr>
      <vt:lpstr>Conclusion</vt:lpstr>
      <vt:lpstr>Présentation PowerPoint</vt:lpstr>
    </vt:vector>
  </TitlesOfParts>
  <Manager>Rémy DUPONT</Manager>
  <Company>EDF Division R&amp;D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transparents 2000</dc:title>
  <dc:subject>présentation R&amp;D 2000</dc:subject>
  <dc:creator>franklin partners</dc:creator>
  <cp:keywords>vf</cp:keywords>
  <dc:description>Version ppt 95_x000d_
38 visuels</dc:description>
  <cp:lastModifiedBy>Bouissou Marc</cp:lastModifiedBy>
  <cp:revision>604</cp:revision>
  <cp:lastPrinted>2000-03-16T10:09:20Z</cp:lastPrinted>
  <dcterms:created xsi:type="dcterms:W3CDTF">1999-09-21T15:17:32Z</dcterms:created>
  <dcterms:modified xsi:type="dcterms:W3CDTF">2019-04-10T15:09:02Z</dcterms:modified>
</cp:coreProperties>
</file>
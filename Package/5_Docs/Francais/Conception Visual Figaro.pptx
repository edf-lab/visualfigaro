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118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89ECC-6C77-4AD4-B70D-06ACE75CCFEB}" type="datetimeFigureOut">
              <a:rPr lang="fr-FR"/>
              <a:pPr>
                <a:defRPr/>
              </a:pPr>
              <a:t>25/03/2019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61871-B443-44A8-948D-373EF4E8CDA9}" type="slidenum">
              <a:rPr lang="fr-BE" altLang="fr-FR"/>
              <a:pPr/>
              <a:t>‹N°›</a:t>
            </a:fld>
            <a:endParaRPr lang="fr-BE" altLang="fr-FR"/>
          </a:p>
        </p:txBody>
      </p:sp>
    </p:spTree>
    <p:extLst>
      <p:ext uri="{BB962C8B-B14F-4D97-AF65-F5344CB8AC3E}">
        <p14:creationId xmlns:p14="http://schemas.microsoft.com/office/powerpoint/2010/main" val="3621592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E9724-7DCD-4C8C-A7C6-70EA3FA7A7A3}" type="datetimeFigureOut">
              <a:rPr lang="fr-FR"/>
              <a:pPr>
                <a:defRPr/>
              </a:pPr>
              <a:t>25/03/2019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4A6FBA-4FBC-4FEC-89A7-F5DEEC32EF07}" type="slidenum">
              <a:rPr lang="fr-BE" altLang="fr-FR"/>
              <a:pPr/>
              <a:t>‹N°›</a:t>
            </a:fld>
            <a:endParaRPr lang="fr-BE" altLang="fr-FR"/>
          </a:p>
        </p:txBody>
      </p:sp>
    </p:spTree>
    <p:extLst>
      <p:ext uri="{BB962C8B-B14F-4D97-AF65-F5344CB8AC3E}">
        <p14:creationId xmlns:p14="http://schemas.microsoft.com/office/powerpoint/2010/main" val="284931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11B605-50F8-40E7-AC31-1EFE0F1EBD19}" type="datetimeFigureOut">
              <a:rPr lang="fr-FR"/>
              <a:pPr>
                <a:defRPr/>
              </a:pPr>
              <a:t>25/03/2019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95F527-964E-4A9F-9909-7929037BD1A6}" type="slidenum">
              <a:rPr lang="fr-BE" altLang="fr-FR"/>
              <a:pPr/>
              <a:t>‹N°›</a:t>
            </a:fld>
            <a:endParaRPr lang="fr-BE" altLang="fr-FR"/>
          </a:p>
        </p:txBody>
      </p:sp>
    </p:spTree>
    <p:extLst>
      <p:ext uri="{BB962C8B-B14F-4D97-AF65-F5344CB8AC3E}">
        <p14:creationId xmlns:p14="http://schemas.microsoft.com/office/powerpoint/2010/main" val="279262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979051-5BB6-47B7-B86A-A2B7BE673F10}" type="datetimeFigureOut">
              <a:rPr lang="fr-FR"/>
              <a:pPr>
                <a:defRPr/>
              </a:pPr>
              <a:t>25/03/2019</a:t>
            </a:fld>
            <a:endParaRPr lang="fr-BE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02C835-7EFC-4696-BC19-7CF09AD2716B}" type="slidenum">
              <a:rPr lang="fr-BE" altLang="fr-FR"/>
              <a:pPr/>
              <a:t>‹N°›</a:t>
            </a:fld>
            <a:endParaRPr lang="fr-BE" altLang="fr-FR"/>
          </a:p>
        </p:txBody>
      </p:sp>
    </p:spTree>
    <p:extLst>
      <p:ext uri="{BB962C8B-B14F-4D97-AF65-F5344CB8AC3E}">
        <p14:creationId xmlns:p14="http://schemas.microsoft.com/office/powerpoint/2010/main" val="4238469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7E18C4-C71C-4552-BDDB-4F1360702C8D}" type="datetimeFigureOut">
              <a:rPr lang="fr-FR"/>
              <a:pPr>
                <a:defRPr/>
              </a:pPr>
              <a:t>25/03/2019</a:t>
            </a:fld>
            <a:endParaRPr lang="fr-BE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52A1B9-118E-40DC-99E9-A04D33DC68DE}" type="slidenum">
              <a:rPr lang="fr-BE" altLang="fr-FR"/>
              <a:pPr/>
              <a:t>‹N°›</a:t>
            </a:fld>
            <a:endParaRPr lang="fr-BE" altLang="fr-FR"/>
          </a:p>
        </p:txBody>
      </p:sp>
    </p:spTree>
    <p:extLst>
      <p:ext uri="{BB962C8B-B14F-4D97-AF65-F5344CB8AC3E}">
        <p14:creationId xmlns:p14="http://schemas.microsoft.com/office/powerpoint/2010/main" val="1730738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A3EF5-8099-4A01-BC8E-92B24C0ED6A4}" type="datetimeFigureOut">
              <a:rPr lang="fr-FR"/>
              <a:pPr>
                <a:defRPr/>
              </a:pPr>
              <a:t>25/03/2019</a:t>
            </a:fld>
            <a:endParaRPr lang="fr-BE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F87FD0-604B-4046-9453-048A6A2A7DCD}" type="slidenum">
              <a:rPr lang="fr-BE" altLang="fr-FR"/>
              <a:pPr/>
              <a:t>‹N°›</a:t>
            </a:fld>
            <a:endParaRPr lang="fr-BE" altLang="fr-FR"/>
          </a:p>
        </p:txBody>
      </p:sp>
    </p:spTree>
    <p:extLst>
      <p:ext uri="{BB962C8B-B14F-4D97-AF65-F5344CB8AC3E}">
        <p14:creationId xmlns:p14="http://schemas.microsoft.com/office/powerpoint/2010/main" val="177379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5AC6E-55A1-49A5-B929-B8913C82F4D9}" type="datetimeFigureOut">
              <a:rPr lang="fr-FR"/>
              <a:pPr>
                <a:defRPr/>
              </a:pPr>
              <a:t>25/03/2019</a:t>
            </a:fld>
            <a:endParaRPr lang="fr-BE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FD4F71-D8F9-4489-B933-3274629CCBBC}" type="slidenum">
              <a:rPr lang="fr-BE" altLang="fr-FR"/>
              <a:pPr/>
              <a:t>‹N°›</a:t>
            </a:fld>
            <a:endParaRPr lang="fr-BE" altLang="fr-FR"/>
          </a:p>
        </p:txBody>
      </p:sp>
    </p:spTree>
    <p:extLst>
      <p:ext uri="{BB962C8B-B14F-4D97-AF65-F5344CB8AC3E}">
        <p14:creationId xmlns:p14="http://schemas.microsoft.com/office/powerpoint/2010/main" val="75571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90E758-D53F-4821-B34F-90AB8B83C3EF}" type="datetimeFigureOut">
              <a:rPr lang="fr-FR"/>
              <a:pPr>
                <a:defRPr/>
              </a:pPr>
              <a:t>25/03/2019</a:t>
            </a:fld>
            <a:endParaRPr lang="fr-BE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08EB17-15F4-4739-BF51-5366AC766F4B}" type="slidenum">
              <a:rPr lang="fr-BE" altLang="fr-FR"/>
              <a:pPr/>
              <a:t>‹N°›</a:t>
            </a:fld>
            <a:endParaRPr lang="fr-BE" altLang="fr-FR"/>
          </a:p>
        </p:txBody>
      </p:sp>
    </p:spTree>
    <p:extLst>
      <p:ext uri="{BB962C8B-B14F-4D97-AF65-F5344CB8AC3E}">
        <p14:creationId xmlns:p14="http://schemas.microsoft.com/office/powerpoint/2010/main" val="2126718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BE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4E9F2-BB54-4572-9166-4D8BD1F5213B}" type="datetimeFigureOut">
              <a:rPr lang="fr-FR"/>
              <a:pPr>
                <a:defRPr/>
              </a:pPr>
              <a:t>25/03/2019</a:t>
            </a:fld>
            <a:endParaRPr lang="fr-BE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2C69AC-2ABE-4CA5-BE52-891238866C46}" type="slidenum">
              <a:rPr lang="fr-BE" altLang="fr-FR"/>
              <a:pPr/>
              <a:t>‹N°›</a:t>
            </a:fld>
            <a:endParaRPr lang="fr-BE" altLang="fr-FR"/>
          </a:p>
        </p:txBody>
      </p:sp>
    </p:spTree>
    <p:extLst>
      <p:ext uri="{BB962C8B-B14F-4D97-AF65-F5344CB8AC3E}">
        <p14:creationId xmlns:p14="http://schemas.microsoft.com/office/powerpoint/2010/main" val="4218669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E1019B-A528-4D66-ABC4-E06B90170027}" type="datetimeFigureOut">
              <a:rPr lang="fr-FR"/>
              <a:pPr>
                <a:defRPr/>
              </a:pPr>
              <a:t>25/03/2019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FB96B-EB41-4099-AD10-9E7CE2E57DBC}" type="slidenum">
              <a:rPr lang="fr-BE" altLang="fr-FR"/>
              <a:pPr/>
              <a:t>‹N°›</a:t>
            </a:fld>
            <a:endParaRPr lang="fr-BE" altLang="fr-FR"/>
          </a:p>
        </p:txBody>
      </p:sp>
    </p:spTree>
    <p:extLst>
      <p:ext uri="{BB962C8B-B14F-4D97-AF65-F5344CB8AC3E}">
        <p14:creationId xmlns:p14="http://schemas.microsoft.com/office/powerpoint/2010/main" val="329721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CE42C5-195D-4A61-9D50-860C6A2465F8}" type="datetimeFigureOut">
              <a:rPr lang="fr-FR"/>
              <a:pPr>
                <a:defRPr/>
              </a:pPr>
              <a:t>25/03/2019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C8CB26-6C56-4168-90DB-457330EA064F}" type="slidenum">
              <a:rPr lang="fr-BE" altLang="fr-FR"/>
              <a:pPr/>
              <a:t>‹N°›</a:t>
            </a:fld>
            <a:endParaRPr lang="fr-BE" altLang="fr-FR"/>
          </a:p>
        </p:txBody>
      </p:sp>
    </p:spTree>
    <p:extLst>
      <p:ext uri="{BB962C8B-B14F-4D97-AF65-F5344CB8AC3E}">
        <p14:creationId xmlns:p14="http://schemas.microsoft.com/office/powerpoint/2010/main" val="753215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  <a:endParaRPr lang="fr-BE" altLang="fr-FR" smtClean="0"/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  <a:endParaRPr lang="fr-BE" altLang="fr-FR" smtClean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005D70F-C7F3-4A03-AF4F-485FE00EEF10}" type="datetimeFigureOut">
              <a:rPr lang="fr-FR"/>
              <a:pPr>
                <a:defRPr/>
              </a:pPr>
              <a:t>25/03/2019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087E1EF7-EB60-4F78-9B2B-80676F35518E}" type="slidenum">
              <a:rPr lang="fr-BE" altLang="fr-FR"/>
              <a:pPr/>
              <a:t>‹N°›</a:t>
            </a:fld>
            <a:endParaRPr lang="fr-BE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fr-FR" smtClean="0"/>
              <a:t>Visual Figaro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2751138" y="4024313"/>
            <a:ext cx="3867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/>
              <a:t>Principes généraux de la conception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smtClean="0"/>
              <a:t>Attention !</a:t>
            </a:r>
          </a:p>
        </p:txBody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fr-FR" altLang="fr-FR" sz="2400" dirty="0" err="1" smtClean="0"/>
              <a:t>VisualFigaro</a:t>
            </a:r>
            <a:r>
              <a:rPr lang="fr-FR" altLang="fr-FR" sz="2400" dirty="0" smtClean="0"/>
              <a:t> est écrit pour l’essentiel en Java, mais il fait appel à deux exécutables indépendants :</a:t>
            </a:r>
          </a:p>
          <a:p>
            <a:pPr lvl="1">
              <a:lnSpc>
                <a:spcPct val="90000"/>
              </a:lnSpc>
            </a:pPr>
            <a:r>
              <a:rPr lang="fr-FR" altLang="fr-FR" sz="2000" dirty="0" smtClean="0"/>
              <a:t>Le serveur de traitements de KB3 (composé de </a:t>
            </a:r>
            <a:r>
              <a:rPr lang="fr-FR" altLang="fr-FR" sz="2000" dirty="0" err="1" smtClean="0"/>
              <a:t>cpp_st</a:t>
            </a:r>
            <a:r>
              <a:rPr lang="fr-FR" altLang="fr-FR" sz="2000" dirty="0" smtClean="0"/>
              <a:t> et </a:t>
            </a:r>
            <a:r>
              <a:rPr lang="fr-FR" altLang="fr-FR" sz="2000" dirty="0" smtClean="0"/>
              <a:t>figp.exe</a:t>
            </a:r>
            <a:r>
              <a:rPr lang="fr-FR" altLang="fr-FR" sz="2000" dirty="0" smtClean="0"/>
              <a:t>) qui fait le </a:t>
            </a:r>
            <a:r>
              <a:rPr lang="fr-FR" altLang="fr-FR" sz="2000" dirty="0" err="1" smtClean="0"/>
              <a:t>parsing</a:t>
            </a:r>
            <a:r>
              <a:rPr lang="fr-FR" altLang="fr-FR" sz="2000" dirty="0" smtClean="0"/>
              <a:t> du langage FIGARO et en déduit un fichier XML sur lequel </a:t>
            </a:r>
            <a:r>
              <a:rPr lang="fr-FR" altLang="fr-FR" sz="2000" dirty="0" err="1" smtClean="0"/>
              <a:t>VisualFigaro</a:t>
            </a:r>
            <a:r>
              <a:rPr lang="fr-FR" altLang="fr-FR" sz="2000" dirty="0" smtClean="0"/>
              <a:t> s’appuie pour afficher l’arborescence dans le panneau de gauche </a:t>
            </a:r>
          </a:p>
          <a:p>
            <a:pPr lvl="1">
              <a:lnSpc>
                <a:spcPct val="90000"/>
              </a:lnSpc>
            </a:pPr>
            <a:r>
              <a:rPr lang="fr-FR" altLang="fr-FR" sz="2000" dirty="0" smtClean="0"/>
              <a:t>Le traducteur de bases de connaissances TradBdC.exe qui peut être utilisé seul, de manière autonome, mais dont l’appel par </a:t>
            </a:r>
            <a:r>
              <a:rPr lang="fr-FR" altLang="fr-FR" sz="2000" dirty="0" err="1" smtClean="0"/>
              <a:t>VisualFigaro</a:t>
            </a:r>
            <a:r>
              <a:rPr lang="fr-FR" altLang="fr-FR" sz="2000" dirty="0" smtClean="0"/>
              <a:t> facilite l’utilisation par le remplissage de tous les champs indiquant les fichiers à utiliser pour la traduction </a:t>
            </a:r>
          </a:p>
          <a:p>
            <a:pPr>
              <a:lnSpc>
                <a:spcPct val="90000"/>
              </a:lnSpc>
            </a:pPr>
            <a:r>
              <a:rPr lang="fr-FR" altLang="fr-FR" sz="2400" dirty="0" smtClean="0"/>
              <a:t>Les exécutables cités ci-dessus sont désignés dans les programmes Java par un chemin relatif au répertoire qui contient l'éditeur principal </a:t>
            </a:r>
            <a:r>
              <a:rPr lang="fr-FR" altLang="fr-FR" sz="2400" dirty="0" err="1" smtClean="0"/>
              <a:t>Jedit</a:t>
            </a:r>
            <a:r>
              <a:rPr lang="fr-FR" altLang="fr-FR" sz="2400" dirty="0" smtClean="0"/>
              <a:t>. Il ne faut donc modifier aucun nom ou emplacement de répertoire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noProof="1" smtClean="0"/>
              <a:t>Packaging de Visual Figaro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fr-FR" altLang="fr-FR" sz="2200" noProof="1" smtClean="0"/>
              <a:t>Package Graphique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Gwidget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Gwindow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Gobject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GMessage</a:t>
            </a:r>
          </a:p>
          <a:p>
            <a:pPr>
              <a:lnSpc>
                <a:spcPct val="80000"/>
              </a:lnSpc>
            </a:pPr>
            <a:r>
              <a:rPr lang="fr-FR" altLang="fr-FR" sz="2200" noProof="1" smtClean="0"/>
              <a:t>Package Création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Factories</a:t>
            </a:r>
          </a:p>
          <a:p>
            <a:pPr>
              <a:lnSpc>
                <a:spcPct val="80000"/>
              </a:lnSpc>
            </a:pPr>
            <a:r>
              <a:rPr lang="fr-FR" altLang="fr-FR" sz="2200" noProof="1" smtClean="0"/>
              <a:t>Package Communication Jedit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visualFrame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JeditInterface</a:t>
            </a:r>
          </a:p>
          <a:p>
            <a:pPr>
              <a:lnSpc>
                <a:spcPct val="80000"/>
              </a:lnSpc>
            </a:pPr>
            <a:r>
              <a:rPr lang="fr-FR" altLang="fr-FR" sz="2200" noProof="1" smtClean="0"/>
              <a:t>Package Semantique XML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GXSDOperation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GXMLLoader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GObjectInformation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GNameRetriever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Glanguage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GKnowledgeBase</a:t>
            </a:r>
          </a:p>
          <a:p>
            <a:pPr lvl="3">
              <a:lnSpc>
                <a:spcPct val="80000"/>
              </a:lnSpc>
            </a:pPr>
            <a:r>
              <a:rPr lang="fr-FR" altLang="fr-FR" sz="1400" noProof="1" smtClean="0"/>
              <a:t>Gfilters</a:t>
            </a:r>
          </a:p>
        </p:txBody>
      </p:sp>
      <p:sp>
        <p:nvSpPr>
          <p:cNvPr id="3076" name="Espace réservé du contenu 2"/>
          <p:cNvSpPr txBox="1">
            <a:spLocks/>
          </p:cNvSpPr>
          <p:nvPr/>
        </p:nvSpPr>
        <p:spPr bwMode="auto">
          <a:xfrm>
            <a:off x="4743450" y="1617663"/>
            <a:ext cx="4114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20000"/>
              </a:spcBef>
            </a:pPr>
            <a:endParaRPr lang="fr-FR" altLang="fr-FR" sz="2000" noProof="1"/>
          </a:p>
        </p:txBody>
      </p:sp>
      <p:sp>
        <p:nvSpPr>
          <p:cNvPr id="3077" name="Espace réservé du contenu 2"/>
          <p:cNvSpPr txBox="1">
            <a:spLocks/>
          </p:cNvSpPr>
          <p:nvPr/>
        </p:nvSpPr>
        <p:spPr bwMode="auto">
          <a:xfrm>
            <a:off x="5029200" y="1617663"/>
            <a:ext cx="4114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 altLang="fr-FR" sz="2000" noProof="1"/>
              <a:t>Package Figaro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fr-FR" altLang="fr-FR" sz="1400" noProof="1"/>
              <a:t>GCellRenderer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fr-FR" altLang="fr-FR" sz="1400" noProof="1"/>
              <a:t>Figaroparser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fr-FR" altLang="fr-FR" sz="1400" noProof="1"/>
              <a:t>figaroInterface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 altLang="fr-FR" sz="2000" noProof="1"/>
              <a:t>Divers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fr-FR" altLang="fr-FR" sz="1400" noProof="1"/>
              <a:t>global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fr-FR" altLang="fr-FR" sz="1400" noProof="1"/>
              <a:t>Gicon</a:t>
            </a:r>
          </a:p>
          <a:p>
            <a:pPr lvl="3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fr-FR" altLang="fr-FR" sz="1400" noProof="1"/>
              <a:t>GException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noProof="1" smtClean="0"/>
              <a:t>Architecture Générale</a:t>
            </a:r>
          </a:p>
        </p:txBody>
      </p:sp>
      <p:sp>
        <p:nvSpPr>
          <p:cNvPr id="4" name="Rectangle à coins arrondis 3"/>
          <p:cNvSpPr/>
          <p:nvPr/>
        </p:nvSpPr>
        <p:spPr>
          <a:xfrm>
            <a:off x="214313" y="4357688"/>
            <a:ext cx="3143250" cy="21431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Jedit</a:t>
            </a: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/>
              <a:t>Zone de </a:t>
            </a:r>
            <a:r>
              <a:rPr lang="en-US" sz="900" dirty="0" err="1"/>
              <a:t>texte</a:t>
            </a:r>
            <a:endParaRPr lang="en-US" sz="900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214313" y="1428750"/>
            <a:ext cx="3143250" cy="1714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Figaro Tree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/>
              <a:t>Arbre</a:t>
            </a:r>
            <a:r>
              <a:rPr lang="en-US" sz="900" dirty="0"/>
              <a:t> du </a:t>
            </a:r>
            <a:r>
              <a:rPr lang="en-US" sz="900" dirty="0" err="1"/>
              <a:t>plugin</a:t>
            </a:r>
            <a:r>
              <a:rPr lang="en-US" sz="900" dirty="0"/>
              <a:t> visual </a:t>
            </a:r>
            <a:r>
              <a:rPr lang="en-US" sz="900" dirty="0" err="1"/>
              <a:t>figaro</a:t>
            </a:r>
            <a:r>
              <a:rPr lang="en-US" sz="900" dirty="0"/>
              <a:t>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/>
              <a:t>FigaroTree.java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/>
              <a:t>Gcell.java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/>
              <a:t>Gtree.java</a:t>
            </a:r>
            <a:endParaRPr lang="en-US" sz="900" dirty="0"/>
          </a:p>
        </p:txBody>
      </p:sp>
      <p:sp>
        <p:nvSpPr>
          <p:cNvPr id="7" name="Croix 6"/>
          <p:cNvSpPr/>
          <p:nvPr/>
        </p:nvSpPr>
        <p:spPr>
          <a:xfrm>
            <a:off x="3000375" y="2714625"/>
            <a:ext cx="2786063" cy="2071688"/>
          </a:xfrm>
          <a:prstGeom prst="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JEditInterface</a:t>
            </a: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/>
              <a:t>VisualFigaro.java</a:t>
            </a:r>
            <a:endParaRPr lang="en-US" sz="900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5429250" y="1428750"/>
            <a:ext cx="1357313" cy="1714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GWindow</a:t>
            </a:r>
            <a:endParaRPr lang="en-US" sz="900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6929438" y="1446213"/>
            <a:ext cx="1857375" cy="5000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GWidget</a:t>
            </a:r>
            <a:endParaRPr lang="en-US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6929438" y="1571625"/>
            <a:ext cx="1857375" cy="5000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GWidget</a:t>
            </a:r>
            <a:endParaRPr lang="en-US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6929438" y="1714500"/>
            <a:ext cx="1857375" cy="5000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GWidget</a:t>
            </a:r>
            <a:endParaRPr lang="en-US" dirty="0"/>
          </a:p>
        </p:txBody>
      </p:sp>
      <p:sp>
        <p:nvSpPr>
          <p:cNvPr id="12" name="Rectangle à coins arrondis 11"/>
          <p:cNvSpPr/>
          <p:nvPr/>
        </p:nvSpPr>
        <p:spPr>
          <a:xfrm>
            <a:off x="6929438" y="1857375"/>
            <a:ext cx="1857375" cy="5000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Gwidget</a:t>
            </a:r>
            <a:r>
              <a:rPr lang="en-US" dirty="0"/>
              <a:t>*</a:t>
            </a:r>
            <a:endParaRPr lang="en-US" dirty="0"/>
          </a:p>
        </p:txBody>
      </p:sp>
      <p:sp>
        <p:nvSpPr>
          <p:cNvPr id="13" name="Rectangle à coins arrondis 12"/>
          <p:cNvSpPr/>
          <p:nvPr/>
        </p:nvSpPr>
        <p:spPr>
          <a:xfrm>
            <a:off x="5429250" y="4357688"/>
            <a:ext cx="1357313" cy="1714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XML</a:t>
            </a:r>
            <a:endParaRPr lang="en-US" sz="900" dirty="0"/>
          </a:p>
        </p:txBody>
      </p:sp>
      <p:cxnSp>
        <p:nvCxnSpPr>
          <p:cNvPr id="15" name="Connecteur droit avec flèche 14"/>
          <p:cNvCxnSpPr>
            <a:stCxn id="8" idx="2"/>
            <a:endCxn id="13" idx="0"/>
          </p:cNvCxnSpPr>
          <p:nvPr/>
        </p:nvCxnSpPr>
        <p:spPr>
          <a:xfrm rot="5400000">
            <a:off x="5499894" y="3750469"/>
            <a:ext cx="1216025" cy="15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6" idx="3"/>
            <a:endCxn id="8" idx="1"/>
          </p:cNvCxnSpPr>
          <p:nvPr/>
        </p:nvCxnSpPr>
        <p:spPr>
          <a:xfrm>
            <a:off x="3357563" y="2286000"/>
            <a:ext cx="2071687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gner et arrondir un rectangle à un seul coin 18"/>
          <p:cNvSpPr/>
          <p:nvPr/>
        </p:nvSpPr>
        <p:spPr>
          <a:xfrm>
            <a:off x="3714750" y="1857375"/>
            <a:ext cx="1500188" cy="285750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/>
              <a:t>Icones</a:t>
            </a:r>
            <a:r>
              <a:rPr lang="en-US" sz="900" dirty="0"/>
              <a:t>, Structure</a:t>
            </a:r>
            <a:endParaRPr lang="en-US" sz="900" dirty="0"/>
          </a:p>
        </p:txBody>
      </p:sp>
      <p:cxnSp>
        <p:nvCxnSpPr>
          <p:cNvPr id="21" name="Connecteur droit avec flèche 20"/>
          <p:cNvCxnSpPr>
            <a:stCxn id="4" idx="0"/>
            <a:endCxn id="6" idx="2"/>
          </p:cNvCxnSpPr>
          <p:nvPr/>
        </p:nvCxnSpPr>
        <p:spPr>
          <a:xfrm rot="5400000" flipH="1" flipV="1">
            <a:off x="1177131" y="3750469"/>
            <a:ext cx="121602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gner un rectangle à un seul coin 21"/>
          <p:cNvSpPr/>
          <p:nvPr/>
        </p:nvSpPr>
        <p:spPr>
          <a:xfrm>
            <a:off x="285750" y="3571875"/>
            <a:ext cx="1428750" cy="285750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/>
              <a:t>Actualisation</a:t>
            </a:r>
            <a:r>
              <a:rPr lang="en-US" sz="900" dirty="0"/>
              <a:t> (</a:t>
            </a:r>
            <a:r>
              <a:rPr lang="en-US" sz="900" dirty="0" err="1"/>
              <a:t>bouton</a:t>
            </a:r>
            <a:r>
              <a:rPr lang="en-US" sz="900" dirty="0"/>
              <a:t> translate)</a:t>
            </a:r>
            <a:endParaRPr lang="en-US" sz="900" dirty="0"/>
          </a:p>
        </p:txBody>
      </p:sp>
      <p:sp>
        <p:nvSpPr>
          <p:cNvPr id="26" name="Rogner un rectangle à un seul coin 25"/>
          <p:cNvSpPr/>
          <p:nvPr/>
        </p:nvSpPr>
        <p:spPr>
          <a:xfrm>
            <a:off x="6215063" y="3571875"/>
            <a:ext cx="1428750" cy="642938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fr-FR" altLang="fr-FR" sz="900" noProof="1">
                <a:solidFill>
                  <a:srgbClr val="FFFFFF"/>
                </a:solidFill>
              </a:rPr>
              <a:t>A chaque chargement de fen</a:t>
            </a:r>
            <a:r>
              <a:rPr lang="fr-FR" altLang="fr-FR" sz="900">
                <a:solidFill>
                  <a:srgbClr val="FFFFFF"/>
                </a:solidFill>
              </a:rPr>
              <a:t>ê</a:t>
            </a:r>
            <a:r>
              <a:rPr lang="fr-FR" altLang="fr-FR" sz="900" noProof="1">
                <a:solidFill>
                  <a:srgbClr val="FFFFFF"/>
                </a:solidFill>
              </a:rPr>
              <a:t>tre on recup</a:t>
            </a:r>
            <a:r>
              <a:rPr lang="fr-FR" altLang="fr-FR" sz="900">
                <a:solidFill>
                  <a:srgbClr val="FFFFFF"/>
                </a:solidFill>
              </a:rPr>
              <a:t>è</a:t>
            </a:r>
            <a:r>
              <a:rPr lang="fr-FR" altLang="fr-FR" sz="900" noProof="1">
                <a:solidFill>
                  <a:srgbClr val="FFFFFF"/>
                </a:solidFill>
              </a:rPr>
              <a:t>re le xml associé depuis la fen</a:t>
            </a:r>
            <a:r>
              <a:rPr lang="fr-FR" altLang="fr-FR" sz="900">
                <a:solidFill>
                  <a:srgbClr val="FFFFFF"/>
                </a:solidFill>
              </a:rPr>
              <a:t>ê</a:t>
            </a:r>
            <a:r>
              <a:rPr lang="fr-FR" altLang="fr-FR" sz="900" noProof="1">
                <a:solidFill>
                  <a:srgbClr val="FFFFFF"/>
                </a:solidFill>
              </a:rPr>
              <a:t>tre m</a:t>
            </a:r>
            <a:r>
              <a:rPr lang="fr-FR" altLang="fr-FR" sz="900">
                <a:solidFill>
                  <a:srgbClr val="FFFFFF"/>
                </a:solidFill>
              </a:rPr>
              <a:t>è</a:t>
            </a:r>
            <a:r>
              <a:rPr lang="fr-FR" altLang="fr-FR" sz="900" noProof="1">
                <a:solidFill>
                  <a:srgbClr val="FFFFFF"/>
                </a:solidFill>
              </a:rPr>
              <a:t>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38"/>
            <a:ext cx="8229600" cy="511175"/>
          </a:xfrm>
        </p:spPr>
        <p:txBody>
          <a:bodyPr>
            <a:normAutofit fontScale="90000"/>
          </a:bodyPr>
          <a:lstStyle/>
          <a:p>
            <a:r>
              <a:rPr lang="fr-FR" altLang="fr-FR" sz="4000" noProof="1" smtClean="0"/>
              <a:t>Schema de modification de fenêtre</a:t>
            </a:r>
          </a:p>
        </p:txBody>
      </p:sp>
      <p:cxnSp>
        <p:nvCxnSpPr>
          <p:cNvPr id="5" name="Connecteur droit 4"/>
          <p:cNvCxnSpPr/>
          <p:nvPr/>
        </p:nvCxnSpPr>
        <p:spPr>
          <a:xfrm rot="5400000">
            <a:off x="-1785938" y="3643313"/>
            <a:ext cx="6143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rot="5400000">
            <a:off x="892969" y="3607594"/>
            <a:ext cx="59293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71500" y="571500"/>
            <a:ext cx="1428750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GWindow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143250" y="571500"/>
            <a:ext cx="1428750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GWidget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214438" y="2071688"/>
            <a:ext cx="142875" cy="85725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1214438"/>
            <a:ext cx="1143000" cy="214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>
                <a:solidFill>
                  <a:schemeClr val="tx1"/>
                </a:solidFill>
              </a:rPr>
              <a:t>Gwindow.Constructeur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16" name="Connecteur droit avec flèche 15"/>
          <p:cNvCxnSpPr>
            <a:endCxn id="19" idx="0"/>
          </p:cNvCxnSpPr>
          <p:nvPr/>
        </p:nvCxnSpPr>
        <p:spPr>
          <a:xfrm>
            <a:off x="1357313" y="2214563"/>
            <a:ext cx="2500312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786188" y="2214563"/>
            <a:ext cx="142875" cy="1214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22" name="Connecteur droit avec flèche 21"/>
          <p:cNvCxnSpPr/>
          <p:nvPr/>
        </p:nvCxnSpPr>
        <p:spPr>
          <a:xfrm>
            <a:off x="3929063" y="2357438"/>
            <a:ext cx="500062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214438" y="1143000"/>
            <a:ext cx="142875" cy="928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0" y="2143125"/>
            <a:ext cx="1143000" cy="214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>
                <a:solidFill>
                  <a:schemeClr val="tx1"/>
                </a:solidFill>
              </a:rPr>
              <a:t>Gwindow.LoadXML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428875" y="2295525"/>
            <a:ext cx="1285875" cy="204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>
                <a:solidFill>
                  <a:schemeClr val="tx1"/>
                </a:solidFill>
              </a:rPr>
              <a:t>Gwidget.LoadXML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536700" y="928688"/>
            <a:ext cx="500063" cy="214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/>
              <a:t>XML</a:t>
            </a:r>
            <a:endParaRPr lang="en-US" sz="900" dirty="0"/>
          </a:p>
        </p:txBody>
      </p:sp>
      <p:cxnSp>
        <p:nvCxnSpPr>
          <p:cNvPr id="39" name="Connecteur droit 38"/>
          <p:cNvCxnSpPr>
            <a:stCxn id="30" idx="2"/>
          </p:cNvCxnSpPr>
          <p:nvPr/>
        </p:nvCxnSpPr>
        <p:spPr>
          <a:xfrm rot="5400000">
            <a:off x="-928687" y="3857625"/>
            <a:ext cx="5429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4160838" y="928688"/>
            <a:ext cx="500062" cy="214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/>
              <a:t>XML</a:t>
            </a:r>
            <a:endParaRPr lang="en-US" sz="900" dirty="0"/>
          </a:p>
        </p:txBody>
      </p:sp>
      <p:cxnSp>
        <p:nvCxnSpPr>
          <p:cNvPr id="43" name="Connecteur droit 42"/>
          <p:cNvCxnSpPr>
            <a:stCxn id="42" idx="2"/>
          </p:cNvCxnSpPr>
          <p:nvPr/>
        </p:nvCxnSpPr>
        <p:spPr>
          <a:xfrm rot="16200000" flipH="1">
            <a:off x="1741487" y="3813176"/>
            <a:ext cx="5357813" cy="174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714500" y="1285875"/>
            <a:ext cx="142875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0" name="Connecteur droit avec flèche 49"/>
          <p:cNvCxnSpPr/>
          <p:nvPr/>
        </p:nvCxnSpPr>
        <p:spPr>
          <a:xfrm>
            <a:off x="1357313" y="1285875"/>
            <a:ext cx="50006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928813" y="1285875"/>
            <a:ext cx="1143000" cy="642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>
                <a:solidFill>
                  <a:schemeClr val="tx1"/>
                </a:solidFill>
              </a:rPr>
              <a:t>Mise</a:t>
            </a:r>
            <a:r>
              <a:rPr lang="en-US" sz="900" dirty="0">
                <a:solidFill>
                  <a:schemeClr val="tx1"/>
                </a:solidFill>
              </a:rPr>
              <a:t> en </a:t>
            </a:r>
            <a:r>
              <a:rPr lang="en-US" sz="900" dirty="0" err="1">
                <a:solidFill>
                  <a:schemeClr val="tx1"/>
                </a:solidFill>
              </a:rPr>
              <a:t>forme</a:t>
            </a:r>
            <a:r>
              <a:rPr lang="en-US" sz="900" dirty="0">
                <a:solidFill>
                  <a:schemeClr val="tx1"/>
                </a:solidFill>
              </a:rPr>
              <a:t> du XML pour le </a:t>
            </a:r>
            <a:r>
              <a:rPr lang="en-US" sz="900" dirty="0" err="1">
                <a:solidFill>
                  <a:schemeClr val="tx1"/>
                </a:solidFill>
              </a:rPr>
              <a:t>Gwidget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dirty="0" err="1">
                <a:solidFill>
                  <a:schemeClr val="tx1"/>
                </a:solidFill>
              </a:rPr>
              <a:t>GXMLElementFactory.</a:t>
            </a:r>
            <a:r>
              <a:rPr lang="en-US" sz="900" i="1" dirty="0" err="1">
                <a:solidFill>
                  <a:schemeClr val="tx1"/>
                </a:solidFill>
              </a:rPr>
              <a:t>refactorElement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53" name="Connecteur droit avec flèche 52"/>
          <p:cNvCxnSpPr>
            <a:stCxn id="44" idx="2"/>
          </p:cNvCxnSpPr>
          <p:nvPr/>
        </p:nvCxnSpPr>
        <p:spPr>
          <a:xfrm rot="5400000">
            <a:off x="1570832" y="1642269"/>
            <a:ext cx="1587" cy="4286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4357688" y="2357438"/>
            <a:ext cx="115887" cy="928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00563" y="2428875"/>
            <a:ext cx="1143000" cy="642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>
                <a:solidFill>
                  <a:schemeClr val="tx1"/>
                </a:solidFill>
              </a:rPr>
              <a:t>Récupération</a:t>
            </a:r>
            <a:r>
              <a:rPr lang="en-US" sz="900" dirty="0">
                <a:solidFill>
                  <a:schemeClr val="tx1"/>
                </a:solidFill>
              </a:rPr>
              <a:t> des </a:t>
            </a:r>
            <a:r>
              <a:rPr lang="en-US" sz="900" dirty="0" err="1">
                <a:solidFill>
                  <a:schemeClr val="tx1"/>
                </a:solidFill>
              </a:rPr>
              <a:t>informations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dirty="0" err="1">
                <a:solidFill>
                  <a:schemeClr val="tx1"/>
                </a:solidFill>
              </a:rPr>
              <a:t>depuis</a:t>
            </a:r>
            <a:r>
              <a:rPr lang="en-US" sz="900" dirty="0">
                <a:solidFill>
                  <a:schemeClr val="tx1"/>
                </a:solidFill>
              </a:rPr>
              <a:t> le XML et des </a:t>
            </a:r>
            <a:r>
              <a:rPr lang="en-US" sz="900" dirty="0" err="1">
                <a:solidFill>
                  <a:schemeClr val="tx1"/>
                </a:solidFill>
              </a:rPr>
              <a:t>valeurs</a:t>
            </a:r>
            <a:r>
              <a:rPr lang="en-US" sz="900" dirty="0">
                <a:solidFill>
                  <a:schemeClr val="tx1"/>
                </a:solidFill>
              </a:rPr>
              <a:t> possible </a:t>
            </a:r>
            <a:r>
              <a:rPr lang="en-US" sz="900" dirty="0" err="1">
                <a:solidFill>
                  <a:schemeClr val="tx1"/>
                </a:solidFill>
              </a:rPr>
              <a:t>depuis</a:t>
            </a:r>
            <a:r>
              <a:rPr lang="en-US" sz="900" dirty="0">
                <a:solidFill>
                  <a:schemeClr val="tx1"/>
                </a:solidFill>
              </a:rPr>
              <a:t> le XSD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59" name="Connecteur droit avec flèche 58"/>
          <p:cNvCxnSpPr>
            <a:stCxn id="55" idx="2"/>
          </p:cNvCxnSpPr>
          <p:nvPr/>
        </p:nvCxnSpPr>
        <p:spPr>
          <a:xfrm rot="5400000">
            <a:off x="4171156" y="3042445"/>
            <a:ext cx="3175" cy="487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214438" y="3643313"/>
            <a:ext cx="142875" cy="8572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0" y="3643313"/>
            <a:ext cx="1143000" cy="214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</a:rPr>
              <a:t>Communication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64" name="Connecteur droit avec flèche 63"/>
          <p:cNvCxnSpPr/>
          <p:nvPr/>
        </p:nvCxnSpPr>
        <p:spPr>
          <a:xfrm>
            <a:off x="1357313" y="3786188"/>
            <a:ext cx="2500312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3786188" y="3786188"/>
            <a:ext cx="142875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2143125" y="3500438"/>
            <a:ext cx="1571625" cy="204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>
                <a:solidFill>
                  <a:schemeClr val="tx1"/>
                </a:solidFill>
              </a:rPr>
              <a:t>Gwidget.translateMessage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68" name="Connecteur droit avec flèche 67"/>
          <p:cNvCxnSpPr/>
          <p:nvPr/>
        </p:nvCxnSpPr>
        <p:spPr>
          <a:xfrm>
            <a:off x="3929063" y="3938588"/>
            <a:ext cx="2500312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4714875" y="3652838"/>
            <a:ext cx="1571625" cy="204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>
                <a:solidFill>
                  <a:schemeClr val="tx1"/>
                </a:solidFill>
              </a:rPr>
              <a:t>Gwidget.translateMessage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500813" y="3714750"/>
            <a:ext cx="1143000" cy="642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>
                <a:solidFill>
                  <a:schemeClr val="tx1"/>
                </a:solidFill>
              </a:rPr>
              <a:t>Récursif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dirty="0" err="1">
                <a:solidFill>
                  <a:schemeClr val="tx1"/>
                </a:solidFill>
              </a:rPr>
              <a:t>si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dirty="0" err="1">
                <a:solidFill>
                  <a:schemeClr val="tx1"/>
                </a:solidFill>
              </a:rPr>
              <a:t>d’autres</a:t>
            </a:r>
            <a:r>
              <a:rPr lang="en-US" sz="900" dirty="0">
                <a:solidFill>
                  <a:schemeClr val="tx1"/>
                </a:solidFill>
              </a:rPr>
              <a:t> widget </a:t>
            </a:r>
            <a:r>
              <a:rPr lang="en-US" sz="900" dirty="0" err="1">
                <a:solidFill>
                  <a:schemeClr val="tx1"/>
                </a:solidFill>
              </a:rPr>
              <a:t>ou</a:t>
            </a:r>
            <a:r>
              <a:rPr lang="en-US" sz="900" dirty="0">
                <a:solidFill>
                  <a:schemeClr val="tx1"/>
                </a:solidFill>
              </a:rPr>
              <a:t> window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0" y="4714875"/>
            <a:ext cx="1143000" cy="214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>
                <a:solidFill>
                  <a:schemeClr val="tx1"/>
                </a:solidFill>
              </a:rPr>
              <a:t>Gwindow.SaveXML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73" name="Connecteur droit avec flèche 72"/>
          <p:cNvCxnSpPr>
            <a:endCxn id="74" idx="0"/>
          </p:cNvCxnSpPr>
          <p:nvPr/>
        </p:nvCxnSpPr>
        <p:spPr>
          <a:xfrm>
            <a:off x="1357313" y="4786313"/>
            <a:ext cx="2500312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3786188" y="4786313"/>
            <a:ext cx="142875" cy="6429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75" name="Connecteur droit avec flèche 74"/>
          <p:cNvCxnSpPr>
            <a:endCxn id="83" idx="0"/>
          </p:cNvCxnSpPr>
          <p:nvPr/>
        </p:nvCxnSpPr>
        <p:spPr>
          <a:xfrm>
            <a:off x="3929063" y="4929188"/>
            <a:ext cx="1155700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1214438" y="4643438"/>
            <a:ext cx="142875" cy="1928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2428875" y="4867275"/>
            <a:ext cx="1285875" cy="204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fr-FR" altLang="fr-FR" sz="900" noProof="1"/>
              <a:t>Gwidget.SaveXML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7613" y="4929188"/>
            <a:ext cx="115887" cy="357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5286375" y="4786313"/>
            <a:ext cx="1143000" cy="642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>
                <a:solidFill>
                  <a:schemeClr val="tx1"/>
                </a:solidFill>
              </a:rPr>
              <a:t>Récupération</a:t>
            </a:r>
            <a:r>
              <a:rPr lang="en-US" sz="900" dirty="0">
                <a:solidFill>
                  <a:schemeClr val="tx1"/>
                </a:solidFill>
              </a:rPr>
              <a:t> des </a:t>
            </a:r>
            <a:r>
              <a:rPr lang="en-US" sz="900" dirty="0" err="1">
                <a:solidFill>
                  <a:schemeClr val="tx1"/>
                </a:solidFill>
              </a:rPr>
              <a:t>informations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dirty="0" err="1">
                <a:solidFill>
                  <a:schemeClr val="tx1"/>
                </a:solidFill>
              </a:rPr>
              <a:t>depuis</a:t>
            </a:r>
            <a:r>
              <a:rPr lang="en-US" sz="900" dirty="0">
                <a:solidFill>
                  <a:schemeClr val="tx1"/>
                </a:solidFill>
              </a:rPr>
              <a:t> les champs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85" name="Connecteur droit avec flèche 84"/>
          <p:cNvCxnSpPr>
            <a:stCxn id="83" idx="2"/>
          </p:cNvCxnSpPr>
          <p:nvPr/>
        </p:nvCxnSpPr>
        <p:spPr>
          <a:xfrm rot="5400000">
            <a:off x="4506913" y="4708525"/>
            <a:ext cx="1588" cy="11572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2143125" y="928688"/>
            <a:ext cx="679450" cy="214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/>
              <a:t>Champs</a:t>
            </a:r>
            <a:endParaRPr lang="en-US" sz="900" dirty="0"/>
          </a:p>
        </p:txBody>
      </p:sp>
      <p:cxnSp>
        <p:nvCxnSpPr>
          <p:cNvPr id="94" name="Connecteur droit 93"/>
          <p:cNvCxnSpPr>
            <a:stCxn id="87" idx="2"/>
          </p:cNvCxnSpPr>
          <p:nvPr/>
        </p:nvCxnSpPr>
        <p:spPr>
          <a:xfrm rot="16200000" flipH="1">
            <a:off x="-294481" y="3920331"/>
            <a:ext cx="5572125" cy="17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4751388" y="928688"/>
            <a:ext cx="677862" cy="214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/>
              <a:t>Champs</a:t>
            </a:r>
            <a:endParaRPr lang="en-US" sz="900" dirty="0"/>
          </a:p>
        </p:txBody>
      </p:sp>
      <p:cxnSp>
        <p:nvCxnSpPr>
          <p:cNvPr id="98" name="Connecteur droit 97"/>
          <p:cNvCxnSpPr>
            <a:stCxn id="97" idx="2"/>
          </p:cNvCxnSpPr>
          <p:nvPr/>
        </p:nvCxnSpPr>
        <p:spPr>
          <a:xfrm rot="16200000" flipH="1">
            <a:off x="2776538" y="3455987"/>
            <a:ext cx="4643438" cy="17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avec flèche 104"/>
          <p:cNvCxnSpPr>
            <a:endCxn id="23" idx="0"/>
          </p:cNvCxnSpPr>
          <p:nvPr/>
        </p:nvCxnSpPr>
        <p:spPr>
          <a:xfrm>
            <a:off x="0" y="1071563"/>
            <a:ext cx="1285875" cy="714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avec flèche 107"/>
          <p:cNvCxnSpPr>
            <a:stCxn id="74" idx="2"/>
          </p:cNvCxnSpPr>
          <p:nvPr/>
        </p:nvCxnSpPr>
        <p:spPr>
          <a:xfrm rot="5400000">
            <a:off x="2606675" y="4179888"/>
            <a:ext cx="1588" cy="25003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avec flèche 108"/>
          <p:cNvCxnSpPr>
            <a:endCxn id="110" idx="0"/>
          </p:cNvCxnSpPr>
          <p:nvPr/>
        </p:nvCxnSpPr>
        <p:spPr>
          <a:xfrm>
            <a:off x="1357313" y="5572125"/>
            <a:ext cx="11557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2455863" y="5572125"/>
            <a:ext cx="115887" cy="357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2714625" y="5429250"/>
            <a:ext cx="1143000" cy="642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err="1">
                <a:solidFill>
                  <a:schemeClr val="tx1"/>
                </a:solidFill>
              </a:rPr>
              <a:t>Récupération</a:t>
            </a:r>
            <a:r>
              <a:rPr lang="en-US" sz="900" dirty="0">
                <a:solidFill>
                  <a:schemeClr val="tx1"/>
                </a:solidFill>
              </a:rPr>
              <a:t> des </a:t>
            </a:r>
            <a:r>
              <a:rPr lang="en-US" sz="900" dirty="0" err="1">
                <a:solidFill>
                  <a:schemeClr val="tx1"/>
                </a:solidFill>
              </a:rPr>
              <a:t>informations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dirty="0" err="1">
                <a:solidFill>
                  <a:schemeClr val="tx1"/>
                </a:solidFill>
              </a:rPr>
              <a:t>depuis</a:t>
            </a:r>
            <a:r>
              <a:rPr lang="en-US" sz="900" dirty="0">
                <a:solidFill>
                  <a:schemeClr val="tx1"/>
                </a:solidFill>
              </a:rPr>
              <a:t> les champs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112" name="Connecteur droit avec flèche 111"/>
          <p:cNvCxnSpPr>
            <a:stCxn id="110" idx="2"/>
          </p:cNvCxnSpPr>
          <p:nvPr/>
        </p:nvCxnSpPr>
        <p:spPr>
          <a:xfrm rot="5400000">
            <a:off x="1935163" y="5351463"/>
            <a:ext cx="1587" cy="11572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Flèche courbée vers la gauche 124"/>
          <p:cNvSpPr/>
          <p:nvPr/>
        </p:nvSpPr>
        <p:spPr>
          <a:xfrm>
            <a:off x="1357313" y="6143625"/>
            <a:ext cx="285750" cy="28575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1714500" y="6143625"/>
            <a:ext cx="1285875" cy="204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fr-FR" altLang="fr-FR" sz="900" noProof="1"/>
              <a:t>Formatage du XML</a:t>
            </a:r>
          </a:p>
        </p:txBody>
      </p:sp>
      <p:cxnSp>
        <p:nvCxnSpPr>
          <p:cNvPr id="135" name="Connecteur droit avec flèche 134"/>
          <p:cNvCxnSpPr>
            <a:stCxn id="76" idx="2"/>
          </p:cNvCxnSpPr>
          <p:nvPr/>
        </p:nvCxnSpPr>
        <p:spPr>
          <a:xfrm rot="5400000">
            <a:off x="607219" y="5965031"/>
            <a:ext cx="71438" cy="12858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à coins arrondis 135"/>
          <p:cNvSpPr/>
          <p:nvPr/>
        </p:nvSpPr>
        <p:spPr>
          <a:xfrm>
            <a:off x="0" y="0"/>
            <a:ext cx="357158" cy="10001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900" dirty="0"/>
              <a:t>Arrivée depuis le parent</a:t>
            </a:r>
            <a:endParaRPr lang="en-US" sz="900" dirty="0"/>
          </a:p>
        </p:txBody>
      </p:sp>
      <p:sp>
        <p:nvSpPr>
          <p:cNvPr id="137" name="Rectangle à coins arrondis 136"/>
          <p:cNvSpPr/>
          <p:nvPr/>
        </p:nvSpPr>
        <p:spPr>
          <a:xfrm>
            <a:off x="0" y="5500702"/>
            <a:ext cx="357158" cy="10001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900" dirty="0"/>
              <a:t>Retour au parent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75"/>
          </a:xfrm>
        </p:spPr>
        <p:txBody>
          <a:bodyPr>
            <a:normAutofit fontScale="90000"/>
          </a:bodyPr>
          <a:lstStyle/>
          <a:p>
            <a:r>
              <a:rPr lang="fr-FR" altLang="fr-FR" sz="4000" noProof="1" smtClean="0"/>
              <a:t>Déroulement de l’ouverture d’une bdc</a:t>
            </a:r>
          </a:p>
        </p:txBody>
      </p:sp>
      <p:sp>
        <p:nvSpPr>
          <p:cNvPr id="8" name="Rectangle 7"/>
          <p:cNvSpPr/>
          <p:nvPr/>
        </p:nvSpPr>
        <p:spPr>
          <a:xfrm>
            <a:off x="2555875" y="1557338"/>
            <a:ext cx="242887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fr-FR" altLang="fr-FR" sz="900" noProof="1">
                <a:solidFill>
                  <a:srgbClr val="FFFFFF"/>
                </a:solidFill>
              </a:rPr>
              <a:t>Initialisation du plugin : VisualFigaro.VisualFigaro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5875" y="1985963"/>
            <a:ext cx="242887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fr-FR" altLang="fr-FR" sz="900" noProof="1">
                <a:solidFill>
                  <a:srgbClr val="FFFFFF"/>
                </a:solidFill>
              </a:rPr>
              <a:t>Lancement de la méthode VisualFIgaro.OpenKB par </a:t>
            </a:r>
            <a:r>
              <a:rPr lang="fr-FR" altLang="fr-FR" sz="900" noProof="1">
                <a:solidFill>
                  <a:srgbClr val="FFFFFF"/>
                </a:solidFill>
              </a:rPr>
              <a:t>le </a:t>
            </a:r>
            <a:r>
              <a:rPr lang="fr-FR" altLang="fr-FR" sz="900" noProof="1" smtClean="0">
                <a:solidFill>
                  <a:srgbClr val="FFFFFF"/>
                </a:solidFill>
              </a:rPr>
              <a:t>clic </a:t>
            </a:r>
            <a:r>
              <a:rPr lang="fr-FR" altLang="fr-FR" sz="900" noProof="1">
                <a:solidFill>
                  <a:srgbClr val="FFFFFF"/>
                </a:solidFill>
              </a:rPr>
              <a:t>de souris sur le menu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5875" y="2414588"/>
            <a:ext cx="242887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fr-FR" altLang="fr-FR" sz="900" noProof="1">
                <a:solidFill>
                  <a:srgbClr val="FFFFFF"/>
                </a:solidFill>
              </a:rPr>
              <a:t>Vérification de l’intégrité de la KB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0000" y="3271838"/>
            <a:ext cx="2428875" cy="409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fr-FR" altLang="fr-FR" sz="900" noProof="1">
                <a:solidFill>
                  <a:srgbClr val="FFFFFF"/>
                </a:solidFill>
              </a:rPr>
              <a:t>Si la base existe on averti l’utilisateur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0500" y="4129088"/>
            <a:ext cx="2428875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fr-FR" altLang="fr-FR" sz="900" noProof="1">
                <a:solidFill>
                  <a:srgbClr val="FFFFFF"/>
                </a:solidFill>
              </a:rPr>
              <a:t>S la compilation réussit on ajoute la KB au vecteur de </a:t>
            </a:r>
            <a:r>
              <a:rPr lang="fr-FR" altLang="fr-FR" sz="900" noProof="1">
                <a:solidFill>
                  <a:srgbClr val="FFFFFF"/>
                </a:solidFill>
              </a:rPr>
              <a:t>KB </a:t>
            </a:r>
            <a:r>
              <a:rPr lang="fr-FR" altLang="fr-FR" sz="900" noProof="1" smtClean="0">
                <a:solidFill>
                  <a:srgbClr val="FFFFFF"/>
                </a:solidFill>
              </a:rPr>
              <a:t>ouvertes </a:t>
            </a:r>
            <a:r>
              <a:rPr lang="fr-FR" altLang="fr-FR" sz="900" noProof="1">
                <a:solidFill>
                  <a:srgbClr val="FFFFFF"/>
                </a:solidFill>
              </a:rPr>
              <a:t>et le nom dans la combo box de nom.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5875" y="2843213"/>
            <a:ext cx="242887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fr-FR" altLang="fr-FR" sz="900" noProof="1">
                <a:solidFill>
                  <a:srgbClr val="FFFFFF"/>
                </a:solidFill>
              </a:rPr>
              <a:t>On charge le texte dans la fenêtre d’édition de jEdit.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13188" y="3771900"/>
            <a:ext cx="242887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fr-FR" altLang="fr-FR" sz="900" noProof="1">
                <a:solidFill>
                  <a:srgbClr val="FFFFFF"/>
                </a:solidFill>
              </a:rPr>
              <a:t>On compile la base avec le serveur de traitement.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1750" y="3271838"/>
            <a:ext cx="2428875" cy="409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fr-FR" altLang="fr-FR" sz="900" noProof="1">
                <a:solidFill>
                  <a:srgbClr val="FFFFFF"/>
                </a:solidFill>
              </a:rPr>
              <a:t>Si la base n’existe pas on trouve sa langue d’édition et on crée un nouvel object Gknowledge 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8750" y="4129088"/>
            <a:ext cx="2428875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fr-FR" altLang="fr-FR" sz="900" noProof="1">
                <a:solidFill>
                  <a:srgbClr val="FFFFFF"/>
                </a:solidFill>
              </a:rPr>
              <a:t>Si la compilation échoue on part en erreur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70500" y="4629150"/>
            <a:ext cx="2428875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fr-FR" altLang="fr-FR" sz="900" noProof="1">
                <a:solidFill>
                  <a:srgbClr val="FFFFFF"/>
                </a:solidFill>
              </a:rPr>
              <a:t>On rafraichit les icones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noProof="1" smtClean="0"/>
              <a:t>Quelques classes importantes</a:t>
            </a:r>
          </a:p>
        </p:txBody>
      </p:sp>
      <p:sp>
        <p:nvSpPr>
          <p:cNvPr id="19462" name="Rectangle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fr-FR" sz="1600" noProof="1" smtClean="0"/>
              <a:t>GXMLElementFactory</a:t>
            </a:r>
            <a:r>
              <a:rPr lang="fr-FR" altLang="fr-FR" sz="1600" smtClean="0"/>
              <a:t> : sert à chercher des données dans la structure XML (méthodes refactorElement(s)), ou à y injecter des données.</a:t>
            </a:r>
          </a:p>
          <a:p>
            <a:r>
              <a:rPr lang="fr-FR" altLang="fr-FR" sz="1600" smtClean="0"/>
              <a:t>Factories/GwidgetFactory : contient les différents types de fenêtres de saisie élémentaires.</a:t>
            </a:r>
            <a:endParaRPr lang="fr-FR" altLang="fr-FR" sz="1600" noProof="1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436</Words>
  <Application>Microsoft Office PowerPoint</Application>
  <PresentationFormat>Affichage à l'écran (4:3)</PresentationFormat>
  <Paragraphs>91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Calibri</vt:lpstr>
      <vt:lpstr>Arial</vt:lpstr>
      <vt:lpstr>Thème Office</vt:lpstr>
      <vt:lpstr>Visual Figaro</vt:lpstr>
      <vt:lpstr>Attention !</vt:lpstr>
      <vt:lpstr>Packaging de Visual Figaro</vt:lpstr>
      <vt:lpstr>Architecture Générale</vt:lpstr>
      <vt:lpstr>Schema de modification de fenêtre</vt:lpstr>
      <vt:lpstr>Déroulement de l’ouverture d’une bdc</vt:lpstr>
      <vt:lpstr>Quelques classes importantes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Figaro</dc:title>
  <dc:creator>GZORlee</dc:creator>
  <cp:lastModifiedBy>Bouissou Marc</cp:lastModifiedBy>
  <cp:revision>75</cp:revision>
  <dcterms:created xsi:type="dcterms:W3CDTF">2009-08-02T18:43:40Z</dcterms:created>
  <dcterms:modified xsi:type="dcterms:W3CDTF">2019-03-25T11:14:52Z</dcterms:modified>
</cp:coreProperties>
</file>